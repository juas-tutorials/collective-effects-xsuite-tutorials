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_rels/presentation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19.png" ContentType="image/png"/>
  <Override PartName="/ppt/media/image1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09E61F1-5E92-4EDA-863A-01C89FBF61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CBB480-5CA0-4928-A8FC-7493B336392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CD6F7F-03AC-49B6-93CF-79EBC067DE8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37E5DC-F410-4D92-96BD-793A2A85B94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E72418-1429-43C8-A7FC-83768DF4D72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2C1471-0163-494C-998A-D9109175DFF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02F59B-24FB-4DB4-8CEE-DD2F2ABD8EF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A40BBE-BB44-4C9C-BC97-7D2CCAF143E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8002B65-2ED4-424D-BE5F-EE11595536B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415558-349A-4379-8732-E66471DE93F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976910-5439-4CB8-AC57-1015D0C2D86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57F368-4D68-4514-B3E3-5342B4220AC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D4C62FC-06BA-4023-9970-9C4B08FA3E6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419E711-E305-438D-B3ED-2237E7BE271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1159710-DCD8-4A6D-8B81-920BD6CB234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E2E823A-2E89-4F5A-86DA-E3CA8546742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3846CC1-2C94-4AB1-8575-FC25693D124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3F7ACD5-C03E-4CEC-A0A8-601C39ADA41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B861ADE-5852-4930-B683-3C9B43693C2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20308A5-23FC-4A2B-B981-8B40756A2D4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30145BB-7872-4107-B475-AFDC2A1B35C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F373B47-E36C-4665-8AC2-4CCFAE4E7BF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5971B4C-FCD5-48FD-93C1-2F0F8D94C51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2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3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EDFE2D3-EF1B-49AB-A582-5AB8268D5A4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CBCDCBF-89E1-44CF-A4A7-622F5521426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190763F-9B93-4C78-8F1C-FFA2C055099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AA13B85-F34C-47C6-BC8E-6863E0EEA6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819D83D-CB09-4D05-989A-F3291BCC91A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0A56D7E-C63F-471E-B4DD-6A64B9FC12F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580A74B-E89D-4760-8C91-516E239F6A0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81FC0BD-BC94-493C-B371-EDC5D5289D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6AD7AC5-5EAE-42EF-9D86-9D8A57FE50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DCC5B46-D4F8-493C-A42C-272528253F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28FB6A6-615E-455F-9197-2B1507A9696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532032F-085B-4250-97BC-89ECB38D20F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3E569B9-473C-4614-BDAB-9D7E5591E9A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040A552-3669-4F8D-831A-1040F691D33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7EB7C44-6313-49AF-8CA4-A9716E1D7F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E2A639C-E509-4ACF-8133-9C202FC412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5387914-8230-4A3C-A4FF-2D98633C933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B3C5045-251C-4969-A760-1B1FB2F5E62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D533D20-11B0-4AAB-B3B1-9B7BDF6D4E6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99D0B5E-0E1F-4E0A-826E-5A1EE58DE87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1D05EA3-6D49-4F54-8FFD-76CAE15F73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BBA9D2E-A30D-4467-91B4-4227198BED1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D489282-04FF-438A-89B4-71533FA8951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CF7FD7E-5F0B-4027-8A22-D73CF0AE800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D41016B-EF1E-403C-8361-8B0F602B516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8"/>
          <p:cNvSpPr/>
          <p:nvPr/>
        </p:nvSpPr>
        <p:spPr>
          <a:xfrm>
            <a:off x="0" y="0"/>
            <a:ext cx="160560" cy="6855840"/>
          </a:xfrm>
          <a:prstGeom prst="rect">
            <a:avLst/>
          </a:prstGeom>
          <a:solidFill>
            <a:srgbClr val="0070c0"/>
          </a:solidFill>
          <a:ln>
            <a:solidFill>
              <a:srgbClr val="0f47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PlaceHolder 1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ldNum" idx="2"/>
          </p:nvPr>
        </p:nvSpPr>
        <p:spPr>
          <a:xfrm>
            <a:off x="9448920" y="65037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GB" sz="1200" spc="-1" strike="noStrike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B1D31F8-114A-4414-958A-7D15F8F96176}" type="slidenum">
              <a:rPr b="0" lang="en-GB" sz="1200" spc="-1" strike="noStrike">
                <a:solidFill>
                  <a:srgbClr val="787878"/>
                </a:solidFill>
                <a:latin typeface="Apto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8"/>
          <p:cNvSpPr/>
          <p:nvPr/>
        </p:nvSpPr>
        <p:spPr>
          <a:xfrm>
            <a:off x="0" y="0"/>
            <a:ext cx="160560" cy="6855840"/>
          </a:xfrm>
          <a:prstGeom prst="rect">
            <a:avLst/>
          </a:prstGeom>
          <a:solidFill>
            <a:srgbClr val="0070c0"/>
          </a:solidFill>
          <a:ln>
            <a:solidFill>
              <a:srgbClr val="0f47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3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5"/>
          </p:nvPr>
        </p:nvSpPr>
        <p:spPr>
          <a:xfrm>
            <a:off x="9448920" y="65037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GB" sz="1200" spc="-1" strike="noStrike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098CDB6-7468-44EF-80F0-3B3A9C26BC5A}" type="slidenum">
              <a:rPr b="0" lang="en-GB" sz="1200" spc="-1" strike="noStrike">
                <a:solidFill>
                  <a:srgbClr val="787878"/>
                </a:solidFill>
                <a:latin typeface="Apto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angle 8"/>
          <p:cNvSpPr/>
          <p:nvPr/>
        </p:nvSpPr>
        <p:spPr>
          <a:xfrm>
            <a:off x="0" y="0"/>
            <a:ext cx="160560" cy="6855840"/>
          </a:xfrm>
          <a:prstGeom prst="rect">
            <a:avLst/>
          </a:prstGeom>
          <a:solidFill>
            <a:srgbClr val="0070c0"/>
          </a:solidFill>
          <a:ln>
            <a:solidFill>
              <a:srgbClr val="0f47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5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ldNum" idx="8"/>
          </p:nvPr>
        </p:nvSpPr>
        <p:spPr>
          <a:xfrm>
            <a:off x="9448920" y="65037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GB" sz="1200" spc="-1" strike="noStrike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56DA6A9-C03A-489A-8083-352CB4EE6B99}" type="slidenum">
              <a:rPr b="0" lang="en-GB" sz="1200" spc="-1" strike="noStrike">
                <a:solidFill>
                  <a:srgbClr val="787878"/>
                </a:solidFill>
                <a:latin typeface="Apto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8"/>
          <p:cNvSpPr/>
          <p:nvPr/>
        </p:nvSpPr>
        <p:spPr>
          <a:xfrm>
            <a:off x="0" y="0"/>
            <a:ext cx="160560" cy="6855840"/>
          </a:xfrm>
          <a:prstGeom prst="rect">
            <a:avLst/>
          </a:prstGeom>
          <a:solidFill>
            <a:srgbClr val="0070c0"/>
          </a:solidFill>
          <a:ln>
            <a:solidFill>
              <a:srgbClr val="0f47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7" name="PlaceHolder 1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sldNum" idx="11"/>
          </p:nvPr>
        </p:nvSpPr>
        <p:spPr>
          <a:xfrm>
            <a:off x="9448920" y="65037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GB" sz="1200" spc="-1" strike="noStrike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630EC2E-AB9F-4618-8B75-36BE4D553595}" type="slidenum">
              <a:rPr b="0" lang="en-GB" sz="1200" spc="-1" strike="noStrike">
                <a:solidFill>
                  <a:srgbClr val="787878"/>
                </a:solidFill>
                <a:latin typeface="Apto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3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github.com/JUAS-tutorials/collective-effects-xsuite-tutorials" TargetMode="External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1612440" y="825840"/>
            <a:ext cx="9141840" cy="3371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rgbClr val="0070c0"/>
                </a:solidFill>
                <a:latin typeface="Aptos Display"/>
              </a:rPr>
              <a:t>JUAS</a:t>
            </a:r>
            <a:br>
              <a:rPr sz="4400"/>
            </a:br>
            <a:br>
              <a:rPr sz="4400"/>
            </a:br>
            <a:r>
              <a:rPr b="0" lang="en-US" sz="4400" spc="-1" strike="noStrike">
                <a:solidFill>
                  <a:srgbClr val="0070c0"/>
                </a:solidFill>
                <a:latin typeface="Aptos Display"/>
              </a:rPr>
              <a:t>Xsuite tutorial: Collective effects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subTitle"/>
          </p:nvPr>
        </p:nvSpPr>
        <p:spPr>
          <a:xfrm>
            <a:off x="968400" y="5058360"/>
            <a:ext cx="10252800" cy="165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David Amorim, Elena de la Fuente García, Sébastien Joly</a:t>
            </a:r>
            <a:endParaRPr b="0" lang="en-US" sz="2400" spc="-1" strike="noStrike"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400" spc="-1" strike="noStrike"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The tutorial was inspired from the CAS Intensity Limitations in Hadron Beams ones (many thanks for the material!)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4968A6-060E-4813-BF0B-1CACAC239D36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31640" y="136440"/>
            <a:ext cx="10513440" cy="78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3600" spc="-1" strike="noStrike">
                <a:solidFill>
                  <a:srgbClr val="0070c0"/>
                </a:solidFill>
                <a:latin typeface="Aptos Display"/>
              </a:rPr>
              <a:t>Macro-particle tracking simulations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171" name="" descr=""/>
          <p:cNvPicPr/>
          <p:nvPr/>
        </p:nvPicPr>
        <p:blipFill>
          <a:blip r:embed="rId1"/>
          <a:srcRect l="0" t="9475" r="0" b="5980"/>
          <a:stretch/>
        </p:blipFill>
        <p:spPr>
          <a:xfrm>
            <a:off x="685800" y="1035000"/>
            <a:ext cx="8685000" cy="5484240"/>
          </a:xfrm>
          <a:prstGeom prst="rect">
            <a:avLst/>
          </a:prstGeom>
          <a:ln w="3672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431640" y="136440"/>
            <a:ext cx="10513440" cy="78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3600" spc="-1" strike="noStrike">
                <a:solidFill>
                  <a:srgbClr val="0070c0"/>
                </a:solidFill>
                <a:latin typeface="Aptos Display"/>
              </a:rPr>
              <a:t>HL-LHC wake model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406080" y="2057400"/>
            <a:ext cx="6246720" cy="411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The HL-LHC wake model includes the main wake contributors (vacuum chamber, collimators, vacuum instrumentation, beam dump, etc)</a:t>
            </a:r>
            <a:endParaRPr b="0" lang="en-US" sz="2800" spc="-1" strike="noStrike"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The wakefield produced by a particle can interact with its own bunch, the following or even turns later!</a:t>
            </a:r>
            <a:endParaRPr b="0" lang="en-US" sz="2800" spc="-1" strike="noStrike">
              <a:latin typeface="Arial"/>
            </a:endParaRPr>
          </a:p>
        </p:txBody>
      </p:sp>
      <p:pic>
        <p:nvPicPr>
          <p:cNvPr id="174" name="Picture 2" descr="A graph of a wake&#10;&#10;AI-generated content may be incorrect."/>
          <p:cNvPicPr/>
          <p:nvPr/>
        </p:nvPicPr>
        <p:blipFill>
          <a:blip r:embed="rId1"/>
          <a:stretch/>
        </p:blipFill>
        <p:spPr>
          <a:xfrm>
            <a:off x="6581880" y="2057400"/>
            <a:ext cx="5493240" cy="4117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31640" y="136440"/>
            <a:ext cx="10513440" cy="78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3600" spc="-1" strike="noStrike">
                <a:solidFill>
                  <a:srgbClr val="0070c0"/>
                </a:solidFill>
                <a:latin typeface="Aptos Display"/>
              </a:rPr>
              <a:t>Instability signature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838080" y="1573560"/>
            <a:ext cx="10513440" cy="1373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Exponential growth of the bunch transverse position → bunch losses once it hits the vacuum chamber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77" name="Content Placeholder 9"/>
          <p:cNvSpPr/>
          <p:nvPr/>
        </p:nvSpPr>
        <p:spPr>
          <a:xfrm>
            <a:off x="6534000" y="2550600"/>
            <a:ext cx="5712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ptos"/>
                <a:ea typeface="DejaVu Sans"/>
              </a:rPr>
              <a:t>Vacuum chamber ⌀ = 1 cm</a:t>
            </a:r>
            <a:endParaRPr b="0" lang="en-US" sz="2200" spc="-1" strike="noStrike">
              <a:latin typeface="Arial"/>
            </a:endParaRPr>
          </a:p>
        </p:txBody>
      </p:sp>
      <p:pic>
        <p:nvPicPr>
          <p:cNvPr id="178" name="" descr=""/>
          <p:cNvPicPr/>
          <p:nvPr/>
        </p:nvPicPr>
        <p:blipFill>
          <a:blip r:embed="rId1"/>
          <a:stretch/>
        </p:blipFill>
        <p:spPr>
          <a:xfrm>
            <a:off x="757800" y="2983320"/>
            <a:ext cx="5211000" cy="3885840"/>
          </a:xfrm>
          <a:prstGeom prst="rect">
            <a:avLst/>
          </a:prstGeom>
          <a:ln w="0">
            <a:noFill/>
          </a:ln>
        </p:spPr>
      </p:pic>
      <p:pic>
        <p:nvPicPr>
          <p:cNvPr id="179" name="" descr=""/>
          <p:cNvPicPr/>
          <p:nvPr/>
        </p:nvPicPr>
        <p:blipFill>
          <a:blip r:embed="rId2"/>
          <a:stretch/>
        </p:blipFill>
        <p:spPr>
          <a:xfrm>
            <a:off x="6462000" y="2946240"/>
            <a:ext cx="5239080" cy="3911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431640" y="136440"/>
            <a:ext cx="10513440" cy="78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3600" spc="-1" strike="noStrike">
                <a:solidFill>
                  <a:srgbClr val="0070c0"/>
                </a:solidFill>
                <a:latin typeface="Aptos Display"/>
              </a:rPr>
              <a:t>Task 1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Scan chromaticity (stay within the range [-30,30]), when is the beam stable?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Does the sign of chromaticity play a role?</a:t>
            </a:r>
            <a:endParaRPr b="0" lang="en-US" sz="2800" spc="-1" strike="noStrike"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Is having a large chromaticity usually a good idea?</a:t>
            </a:r>
            <a:endParaRPr b="0" lang="en-US" sz="2800" spc="-1" strike="noStrike">
              <a:latin typeface="Arial"/>
            </a:endParaRPr>
          </a:p>
        </p:txBody>
      </p:sp>
      <p:pic>
        <p:nvPicPr>
          <p:cNvPr id="182" name="" descr=""/>
          <p:cNvPicPr/>
          <p:nvPr/>
        </p:nvPicPr>
        <p:blipFill>
          <a:blip r:embed="rId1"/>
          <a:srcRect l="0" t="-385" r="5627" b="13"/>
          <a:stretch/>
        </p:blipFill>
        <p:spPr>
          <a:xfrm>
            <a:off x="381240" y="2743200"/>
            <a:ext cx="11503800" cy="2512440"/>
          </a:xfrm>
          <a:prstGeom prst="rect">
            <a:avLst/>
          </a:prstGeom>
          <a:ln w="3672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31640" y="136440"/>
            <a:ext cx="10513440" cy="78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3600" spc="-1" strike="noStrike">
                <a:solidFill>
                  <a:srgbClr val="0070c0"/>
                </a:solidFill>
                <a:latin typeface="Aptos Display"/>
              </a:rPr>
              <a:t>Task 2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  <a:ea typeface="Noto Sans CJK SC"/>
              </a:rPr>
              <a:t>Scan the transverse feedback damping time (stay within the range [1,</a:t>
            </a:r>
            <a:r>
              <a:rPr b="0" lang="en-US" sz="2800" spc="-1" strike="noStrike">
                <a:solidFill>
                  <a:srgbClr val="000000"/>
                </a:solidFill>
                <a:latin typeface="utkal"/>
                <a:ea typeface="utkal"/>
              </a:rPr>
              <a:t>∞</a:t>
            </a:r>
            <a:r>
              <a:rPr b="0" lang="en-US" sz="2800" spc="-1" strike="noStrike">
                <a:solidFill>
                  <a:srgbClr val="000000"/>
                </a:solidFill>
                <a:latin typeface="Aptos"/>
                <a:ea typeface="utkal"/>
              </a:rPr>
              <a:t>]), when is the beam stable?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  <a:ea typeface="utkal"/>
              </a:rPr>
              <a:t>Which damper gain would be required to stabilize the beam for a Q' = 0?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</p:txBody>
      </p:sp>
      <p:pic>
        <p:nvPicPr>
          <p:cNvPr id="185" name="" descr=""/>
          <p:cNvPicPr/>
          <p:nvPr/>
        </p:nvPicPr>
        <p:blipFill>
          <a:blip r:embed="rId1"/>
          <a:srcRect l="0" t="0" r="5954" b="0"/>
          <a:stretch/>
        </p:blipFill>
        <p:spPr>
          <a:xfrm>
            <a:off x="421200" y="3093120"/>
            <a:ext cx="11463840" cy="1356840"/>
          </a:xfrm>
          <a:prstGeom prst="rect">
            <a:avLst/>
          </a:prstGeom>
          <a:ln w="3672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" descr=""/>
          <p:cNvPicPr/>
          <p:nvPr/>
        </p:nvPicPr>
        <p:blipFill>
          <a:blip r:embed="rId1"/>
          <a:stretch/>
        </p:blipFill>
        <p:spPr>
          <a:xfrm>
            <a:off x="961200" y="2705040"/>
            <a:ext cx="9226800" cy="2094840"/>
          </a:xfrm>
          <a:prstGeom prst="rect">
            <a:avLst/>
          </a:prstGeom>
          <a:ln w="0">
            <a:noFill/>
          </a:ln>
        </p:spPr>
      </p:pic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31640" y="136440"/>
            <a:ext cx="10513440" cy="78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3600" spc="-1" strike="noStrike">
                <a:solidFill>
                  <a:srgbClr val="0070c0"/>
                </a:solidFill>
                <a:latin typeface="Aptos Display"/>
              </a:rPr>
              <a:t>Task 3 (Bonus)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Replace the unshielded bellows’ impedance by the shielded ones, what happens?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 flipH="1" flipV="1">
            <a:off x="7110000" y="3056400"/>
            <a:ext cx="228600" cy="4572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914400" y="3200400"/>
            <a:ext cx="10513440" cy="78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4200" spc="-1" strike="noStrike">
                <a:solidFill>
                  <a:srgbClr val="0070c0"/>
                </a:solidFill>
                <a:latin typeface="Aptos Display"/>
              </a:rPr>
              <a:t>How to run the notebook</a:t>
            </a:r>
            <a:endParaRPr b="0" lang="en-US" sz="4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431640" y="136440"/>
            <a:ext cx="10513440" cy="78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3600" spc="-1" strike="noStrike">
                <a:solidFill>
                  <a:srgbClr val="0070c0"/>
                </a:solidFill>
                <a:latin typeface="Aptos Display"/>
              </a:rPr>
              <a:t>Download files from github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/>
          </p:nvPr>
        </p:nvSpPr>
        <p:spPr>
          <a:xfrm>
            <a:off x="542520" y="1080720"/>
            <a:ext cx="10657080" cy="4632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7000"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386fe5"/>
              </a:buClr>
              <a:buFont typeface="Arial"/>
              <a:buChar char="•"/>
            </a:pPr>
            <a:r>
              <a:rPr b="0" lang="en-GB" sz="2000" spc="-1" strike="noStrike" u="sng">
                <a:solidFill>
                  <a:srgbClr val="467886"/>
                </a:solidFill>
                <a:uFillTx/>
                <a:latin typeface="Open Sans"/>
                <a:hlinkClick r:id="rId1"/>
              </a:rPr>
              <a:t>https://github.com/JUAS-tutorials/collective-effects-xsuite-tutorials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r>
              <a:rPr b="0" lang="en-GB" sz="2400" spc="-1" strike="noStrike">
                <a:solidFill>
                  <a:srgbClr val="000000"/>
                </a:solidFill>
                <a:latin typeface="Aptos"/>
              </a:rPr>
              <a:t>Save the files:</a:t>
            </a:r>
            <a:endParaRPr b="0" lang="en-US" sz="2400" spc="-1" strike="noStrike"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GB" sz="2400" spc="-1" strike="noStrike">
                <a:solidFill>
                  <a:srgbClr val="000000"/>
                </a:solidFill>
                <a:latin typeface="Aptos"/>
              </a:rPr>
              <a:t>Code → git clone https://github.com/JUAS-tutorials/collective-effects-xsuite-tutorials.git</a:t>
            </a:r>
            <a:endParaRPr b="0" lang="en-US" sz="2400" spc="-1" strike="noStrike"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GB" sz="2400" spc="-1" strike="noStrike">
                <a:solidFill>
                  <a:srgbClr val="000000"/>
                </a:solidFill>
                <a:latin typeface="Aptos"/>
              </a:rPr>
              <a:t>Code → Download ZIP</a:t>
            </a:r>
            <a:endParaRPr b="0" lang="en-US" sz="2400" spc="-1" strike="noStrike"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rgbClr val="000000"/>
                </a:solidFill>
                <a:latin typeface="Aptos"/>
              </a:rPr>
              <a:t>Remember where you saved the files, you will need their location to open the notebook! 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93" name="" descr=""/>
          <p:cNvPicPr/>
          <p:nvPr/>
        </p:nvPicPr>
        <p:blipFill>
          <a:blip r:embed="rId2"/>
          <a:stretch/>
        </p:blipFill>
        <p:spPr>
          <a:xfrm>
            <a:off x="914400" y="1575360"/>
            <a:ext cx="8997120" cy="2658240"/>
          </a:xfrm>
          <a:prstGeom prst="rect">
            <a:avLst/>
          </a:prstGeom>
          <a:ln w="36720">
            <a:noFill/>
          </a:ln>
        </p:spPr>
      </p:pic>
      <p:sp>
        <p:nvSpPr>
          <p:cNvPr id="194" name=""/>
          <p:cNvSpPr/>
          <p:nvPr/>
        </p:nvSpPr>
        <p:spPr>
          <a:xfrm>
            <a:off x="1143000" y="3393000"/>
            <a:ext cx="1827000" cy="756000"/>
          </a:xfrm>
          <a:prstGeom prst="rect">
            <a:avLst/>
          </a:prstGeom>
          <a:noFill/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3CD255A-BE89-418B-A4D3-56472EE171E9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31640" y="136440"/>
            <a:ext cx="10513440" cy="78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3600" spc="-1" strike="noStrike">
                <a:solidFill>
                  <a:srgbClr val="0070c0"/>
                </a:solidFill>
                <a:latin typeface="Aptos Display"/>
              </a:rPr>
              <a:t>Open notebook in jupyter lab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640080" y="1095120"/>
            <a:ext cx="7884720" cy="5237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In Ubuntu, change directory to the folder where the files are located</a:t>
            </a:r>
            <a:endParaRPr b="0" lang="en-US" sz="2000" spc="-1" strike="noStrike"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Open jupyter lab</a:t>
            </a:r>
            <a:endParaRPr b="0" lang="en-US" sz="2000" spc="-1" strike="noStrike"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Paste the webpage address</a:t>
            </a:r>
            <a:br>
              <a:rPr sz="2000"/>
            </a:br>
            <a:r>
              <a:rPr b="0" lang="en-US" sz="1400" spc="-1" strike="noStrike">
                <a:solidFill>
                  <a:srgbClr val="000000"/>
                </a:solidFill>
                <a:latin typeface="Aptos"/>
              </a:rPr>
              <a:t>http://localhost:8888/lab?token=[...]</a:t>
            </a:r>
            <a:br>
              <a:rPr sz="1400"/>
            </a:b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to any browser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 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pic>
        <p:nvPicPr>
          <p:cNvPr id="197" name="Picture 3" descr=""/>
          <p:cNvPicPr/>
          <p:nvPr/>
        </p:nvPicPr>
        <p:blipFill>
          <a:blip r:embed="rId1"/>
          <a:stretch/>
        </p:blipFill>
        <p:spPr>
          <a:xfrm>
            <a:off x="5315040" y="1817280"/>
            <a:ext cx="5350680" cy="41295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2F6B085-566F-45E2-A284-5D0F11F6796D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31640" y="136440"/>
            <a:ext cx="10513440" cy="78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3600" spc="-1" strike="noStrike">
                <a:solidFill>
                  <a:srgbClr val="0070c0"/>
                </a:solidFill>
                <a:latin typeface="Aptos Display"/>
              </a:rPr>
              <a:t>Open notebook in jupyter lab and run it!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199" name="" descr=""/>
          <p:cNvPicPr/>
          <p:nvPr/>
        </p:nvPicPr>
        <p:blipFill>
          <a:blip r:embed="rId1"/>
          <a:stretch/>
        </p:blipFill>
        <p:spPr>
          <a:xfrm>
            <a:off x="464760" y="925200"/>
            <a:ext cx="10278000" cy="57582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F5A349F-113A-42C8-9C2F-34B0A36A4664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914400" y="3200400"/>
            <a:ext cx="10513440" cy="78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4200" spc="-1" strike="noStrike">
                <a:solidFill>
                  <a:srgbClr val="0070c0"/>
                </a:solidFill>
                <a:latin typeface="Aptos Display"/>
              </a:rPr>
              <a:t>Notebook file structure</a:t>
            </a:r>
            <a:endParaRPr b="0" lang="en-US" sz="4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927720" y="123480"/>
            <a:ext cx="8853480" cy="101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GB" sz="2800" spc="-1" strike="noStrike">
                <a:solidFill>
                  <a:srgbClr val="0070c0"/>
                </a:solidFill>
                <a:latin typeface="Aptos Display"/>
              </a:rPr>
              <a:t>Structure of the iPython notebook (1):importing libraries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02" name="TextBox 1"/>
          <p:cNvSpPr/>
          <p:nvPr/>
        </p:nvSpPr>
        <p:spPr>
          <a:xfrm>
            <a:off x="1226880" y="2644560"/>
            <a:ext cx="240768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GB" sz="1800" spc="-1" strike="noStrike">
                <a:solidFill>
                  <a:srgbClr val="000000"/>
                </a:solidFill>
                <a:latin typeface="Aptos"/>
                <a:ea typeface="DejaVu Sans"/>
              </a:rPr>
              <a:t>Import xtrack, xpart, xwakes and xobjects from Xsuite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GB" sz="1800" spc="-1" strike="noStrike">
                <a:solidFill>
                  <a:srgbClr val="000000"/>
                </a:solidFill>
                <a:latin typeface="Aptos"/>
                <a:ea typeface="DejaVu Sans"/>
              </a:rPr>
              <a:t>and import other</a:t>
            </a:r>
            <a:br>
              <a:rPr sz="1800"/>
            </a:br>
            <a:r>
              <a:rPr b="0" lang="en-GB" sz="1800" spc="-1" strike="noStrike">
                <a:solidFill>
                  <a:srgbClr val="000000"/>
                </a:solidFill>
                <a:latin typeface="Aptos"/>
                <a:ea typeface="DejaVu Sans"/>
              </a:rPr>
              <a:t>required libraries and functions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03" name="Left Brace 1"/>
          <p:cNvSpPr/>
          <p:nvPr/>
        </p:nvSpPr>
        <p:spPr>
          <a:xfrm>
            <a:off x="3762000" y="1620000"/>
            <a:ext cx="172080" cy="367776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204" name="" descr=""/>
          <p:cNvPicPr/>
          <p:nvPr/>
        </p:nvPicPr>
        <p:blipFill>
          <a:blip r:embed="rId1"/>
          <a:srcRect l="0" t="0" r="23593" b="0"/>
          <a:stretch/>
        </p:blipFill>
        <p:spPr>
          <a:xfrm>
            <a:off x="4412160" y="1756800"/>
            <a:ext cx="6978240" cy="3424680"/>
          </a:xfrm>
          <a:prstGeom prst="rect">
            <a:avLst/>
          </a:prstGeom>
          <a:ln w="0">
            <a:noFill/>
          </a:ln>
        </p:spPr>
      </p:pic>
      <p:sp>
        <p:nvSpPr>
          <p:cNvPr id="205" name="Oval 1"/>
          <p:cNvSpPr/>
          <p:nvPr/>
        </p:nvSpPr>
        <p:spPr>
          <a:xfrm>
            <a:off x="4682880" y="3205440"/>
            <a:ext cx="2173680" cy="110052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36ACBAA-9CA3-4127-A1C9-1D6B458C3D7B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" descr=""/>
          <p:cNvPicPr/>
          <p:nvPr/>
        </p:nvPicPr>
        <p:blipFill>
          <a:blip r:embed="rId1"/>
          <a:stretch/>
        </p:blipFill>
        <p:spPr>
          <a:xfrm>
            <a:off x="4656600" y="1395000"/>
            <a:ext cx="7313760" cy="5113440"/>
          </a:xfrm>
          <a:prstGeom prst="rect">
            <a:avLst/>
          </a:prstGeom>
          <a:ln w="0">
            <a:noFill/>
          </a:ln>
        </p:spPr>
      </p:pic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831600" y="242280"/>
            <a:ext cx="8749440" cy="46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GB" sz="2800" spc="-1" strike="noStrike">
                <a:solidFill>
                  <a:srgbClr val="0070c0"/>
                </a:solidFill>
                <a:latin typeface="Aptos Display"/>
              </a:rPr>
              <a:t>Structure of the iPython notebook (2): input parameters 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08" name="Left Brace 2"/>
          <p:cNvSpPr/>
          <p:nvPr/>
        </p:nvSpPr>
        <p:spPr>
          <a:xfrm>
            <a:off x="4413960" y="1120680"/>
            <a:ext cx="168120" cy="557388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09" name="TextBox 2"/>
          <p:cNvSpPr/>
          <p:nvPr/>
        </p:nvSpPr>
        <p:spPr>
          <a:xfrm>
            <a:off x="1806480" y="3429000"/>
            <a:ext cx="2832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GB" sz="1800" spc="-1" strike="noStrike">
                <a:solidFill>
                  <a:srgbClr val="000000"/>
                </a:solidFill>
                <a:latin typeface="Aptos"/>
                <a:ea typeface="DejaVu Sans"/>
              </a:rPr>
              <a:t>Set machine and beam</a:t>
            </a:r>
            <a:br>
              <a:rPr sz="1800"/>
            </a:br>
            <a:r>
              <a:rPr b="0" lang="en-GB" sz="1800" spc="-1" strike="noStrike">
                <a:solidFill>
                  <a:srgbClr val="000000"/>
                </a:solidFill>
                <a:latin typeface="Aptos"/>
                <a:ea typeface="DejaVu Sans"/>
              </a:rPr>
              <a:t>parameters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0" name="Oval 2"/>
          <p:cNvSpPr/>
          <p:nvPr/>
        </p:nvSpPr>
        <p:spPr>
          <a:xfrm>
            <a:off x="5122800" y="1751040"/>
            <a:ext cx="2419560" cy="20628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11" name="TextBox 3"/>
          <p:cNvSpPr/>
          <p:nvPr/>
        </p:nvSpPr>
        <p:spPr>
          <a:xfrm>
            <a:off x="8217000" y="1730520"/>
            <a:ext cx="245808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Machine circumference (in m)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12" name="Straight Arrow Connector 1"/>
          <p:cNvSpPr/>
          <p:nvPr/>
        </p:nvSpPr>
        <p:spPr>
          <a:xfrm flipH="1" flipV="1">
            <a:off x="7542000" y="1852920"/>
            <a:ext cx="637560" cy="115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13" name="Oval 3"/>
          <p:cNvSpPr/>
          <p:nvPr/>
        </p:nvSpPr>
        <p:spPr>
          <a:xfrm>
            <a:off x="5029200" y="2971440"/>
            <a:ext cx="4218840" cy="293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14" name="TextBox 5"/>
          <p:cNvSpPr/>
          <p:nvPr/>
        </p:nvSpPr>
        <p:spPr>
          <a:xfrm>
            <a:off x="9876960" y="2980440"/>
            <a:ext cx="136368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LHC wake table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15" name="Straight Arrow Connector 3"/>
          <p:cNvSpPr/>
          <p:nvPr/>
        </p:nvSpPr>
        <p:spPr>
          <a:xfrm flipH="1">
            <a:off x="9248040" y="3119040"/>
            <a:ext cx="5788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16" name="Oval 4"/>
          <p:cNvSpPr/>
          <p:nvPr/>
        </p:nvSpPr>
        <p:spPr>
          <a:xfrm>
            <a:off x="5029200" y="4281480"/>
            <a:ext cx="2576160" cy="27432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17" name="TextBox 6"/>
          <p:cNvSpPr/>
          <p:nvPr/>
        </p:nvSpPr>
        <p:spPr>
          <a:xfrm>
            <a:off x="8998560" y="4383000"/>
            <a:ext cx="137448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No acceleration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18" name="Straight Arrow Connector 4"/>
          <p:cNvSpPr/>
          <p:nvPr/>
        </p:nvSpPr>
        <p:spPr>
          <a:xfrm flipH="1" flipV="1">
            <a:off x="7641360" y="4413960"/>
            <a:ext cx="1312560" cy="1036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19" name="Oval 5"/>
          <p:cNvSpPr/>
          <p:nvPr/>
        </p:nvSpPr>
        <p:spPr>
          <a:xfrm>
            <a:off x="4800600" y="4800600"/>
            <a:ext cx="4570560" cy="20559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20" name="TextBox 7"/>
          <p:cNvSpPr/>
          <p:nvPr/>
        </p:nvSpPr>
        <p:spPr>
          <a:xfrm>
            <a:off x="10123200" y="5775480"/>
            <a:ext cx="151020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RF parameters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21" name="Straight Arrow Connector 5"/>
          <p:cNvSpPr/>
          <p:nvPr/>
        </p:nvSpPr>
        <p:spPr>
          <a:xfrm flipH="1">
            <a:off x="9406080" y="5914080"/>
            <a:ext cx="64944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EAC7FE5-F045-48BA-9B8C-F08F89CD23FC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" descr=""/>
          <p:cNvPicPr/>
          <p:nvPr/>
        </p:nvPicPr>
        <p:blipFill>
          <a:blip r:embed="rId1"/>
          <a:stretch/>
        </p:blipFill>
        <p:spPr>
          <a:xfrm>
            <a:off x="4091400" y="768600"/>
            <a:ext cx="7294680" cy="5907960"/>
          </a:xfrm>
          <a:prstGeom prst="rect">
            <a:avLst/>
          </a:prstGeom>
          <a:ln w="0">
            <a:noFill/>
          </a:ln>
        </p:spPr>
      </p:pic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706680" y="113400"/>
            <a:ext cx="7755480" cy="553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75000"/>
          </a:bodyPr>
          <a:p>
            <a:pPr>
              <a:lnSpc>
                <a:spcPct val="90000"/>
              </a:lnSpc>
              <a:buNone/>
            </a:pPr>
            <a:r>
              <a:rPr b="0" lang="en-GB" sz="2800" spc="-1" strike="noStrike">
                <a:solidFill>
                  <a:srgbClr val="0070c0"/>
                </a:solidFill>
                <a:latin typeface="Aptos Display"/>
              </a:rPr>
              <a:t>Structure of the Python notebook (3): input parameters 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24" name="TextBox 11"/>
          <p:cNvSpPr/>
          <p:nvPr/>
        </p:nvSpPr>
        <p:spPr>
          <a:xfrm>
            <a:off x="1818720" y="1447560"/>
            <a:ext cx="20617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GB" sz="1600" spc="-1" strike="noStrike">
                <a:solidFill>
                  <a:srgbClr val="000000"/>
                </a:solidFill>
                <a:latin typeface="Aptos"/>
                <a:ea typeface="DejaVu Sans"/>
              </a:rPr>
              <a:t>Optics parameters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25" name="Left Brace 3"/>
          <p:cNvSpPr/>
          <p:nvPr/>
        </p:nvSpPr>
        <p:spPr>
          <a:xfrm>
            <a:off x="3912480" y="897120"/>
            <a:ext cx="105480" cy="149544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26" name="Oval 6"/>
          <p:cNvSpPr/>
          <p:nvPr/>
        </p:nvSpPr>
        <p:spPr>
          <a:xfrm>
            <a:off x="4055400" y="1166040"/>
            <a:ext cx="1357560" cy="8193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27" name="TextBox 13"/>
          <p:cNvSpPr/>
          <p:nvPr/>
        </p:nvSpPr>
        <p:spPr>
          <a:xfrm>
            <a:off x="8350200" y="1340280"/>
            <a:ext cx="207576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Transverse tunes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28" name="Straight Arrow Connector 6"/>
          <p:cNvSpPr/>
          <p:nvPr/>
        </p:nvSpPr>
        <p:spPr>
          <a:xfrm flipH="1">
            <a:off x="5484960" y="1478520"/>
            <a:ext cx="2861280" cy="1134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29" name="Oval 8"/>
          <p:cNvSpPr/>
          <p:nvPr/>
        </p:nvSpPr>
        <p:spPr>
          <a:xfrm>
            <a:off x="4019760" y="953280"/>
            <a:ext cx="1783800" cy="21132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30" name="TextBox 15"/>
          <p:cNvSpPr/>
          <p:nvPr/>
        </p:nvSpPr>
        <p:spPr>
          <a:xfrm>
            <a:off x="8214120" y="828000"/>
            <a:ext cx="259920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Momentum compaction factor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31" name="Straight Arrow Connector 7"/>
          <p:cNvSpPr/>
          <p:nvPr/>
        </p:nvSpPr>
        <p:spPr>
          <a:xfrm flipH="1">
            <a:off x="5839200" y="914400"/>
            <a:ext cx="2387160" cy="1436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32" name="TextBox 17"/>
          <p:cNvSpPr/>
          <p:nvPr/>
        </p:nvSpPr>
        <p:spPr>
          <a:xfrm>
            <a:off x="1121040" y="3042720"/>
            <a:ext cx="26823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Initial bunch parameters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33" name="Left Brace 4"/>
          <p:cNvSpPr/>
          <p:nvPr/>
        </p:nvSpPr>
        <p:spPr>
          <a:xfrm>
            <a:off x="3862080" y="2629080"/>
            <a:ext cx="155520" cy="116784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34" name="Oval 10"/>
          <p:cNvSpPr/>
          <p:nvPr/>
        </p:nvSpPr>
        <p:spPr>
          <a:xfrm>
            <a:off x="4095720" y="3321000"/>
            <a:ext cx="1438920" cy="21132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35" name="TextBox 19"/>
          <p:cNvSpPr/>
          <p:nvPr/>
        </p:nvSpPr>
        <p:spPr>
          <a:xfrm>
            <a:off x="7508160" y="3268800"/>
            <a:ext cx="143892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Bunch length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36" name="Straight Arrow Connector 10"/>
          <p:cNvSpPr/>
          <p:nvPr/>
        </p:nvSpPr>
        <p:spPr>
          <a:xfrm flipH="1">
            <a:off x="5621760" y="3418560"/>
            <a:ext cx="184644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37" name="Oval 11"/>
          <p:cNvSpPr/>
          <p:nvPr/>
        </p:nvSpPr>
        <p:spPr>
          <a:xfrm>
            <a:off x="4129560" y="3932640"/>
            <a:ext cx="2125080" cy="21132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38" name="TextBox 20"/>
          <p:cNvSpPr/>
          <p:nvPr/>
        </p:nvSpPr>
        <p:spPr>
          <a:xfrm>
            <a:off x="7543800" y="3869280"/>
            <a:ext cx="2125080" cy="45468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Number of macroparticles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39" name="Straight Arrow Connector 11"/>
          <p:cNvSpPr/>
          <p:nvPr/>
        </p:nvSpPr>
        <p:spPr>
          <a:xfrm flipH="1">
            <a:off x="6254640" y="4007520"/>
            <a:ext cx="1285200" cy="295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40" name="Oval 13"/>
          <p:cNvSpPr/>
          <p:nvPr/>
        </p:nvSpPr>
        <p:spPr>
          <a:xfrm>
            <a:off x="4129560" y="4114440"/>
            <a:ext cx="2125080" cy="21132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41" name="TextBox 21"/>
          <p:cNvSpPr/>
          <p:nvPr/>
        </p:nvSpPr>
        <p:spPr>
          <a:xfrm>
            <a:off x="7579800" y="4362480"/>
            <a:ext cx="212508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Number of slices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42" name="Straight Arrow Connector 12"/>
          <p:cNvSpPr/>
          <p:nvPr/>
        </p:nvSpPr>
        <p:spPr>
          <a:xfrm flipH="1" flipV="1">
            <a:off x="6254640" y="4219200"/>
            <a:ext cx="1285200" cy="169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43" name="TextBox 22"/>
          <p:cNvSpPr/>
          <p:nvPr/>
        </p:nvSpPr>
        <p:spPr>
          <a:xfrm>
            <a:off x="2412000" y="4890600"/>
            <a:ext cx="2262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Simulation parameters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44" name="Left Brace 5"/>
          <p:cNvSpPr/>
          <p:nvPr/>
        </p:nvSpPr>
        <p:spPr>
          <a:xfrm>
            <a:off x="3886920" y="3798360"/>
            <a:ext cx="130680" cy="279396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45" name="Oval 14"/>
          <p:cNvSpPr/>
          <p:nvPr/>
        </p:nvSpPr>
        <p:spPr>
          <a:xfrm>
            <a:off x="3886920" y="4541040"/>
            <a:ext cx="4435560" cy="4356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46" name="TextBox 24"/>
          <p:cNvSpPr/>
          <p:nvPr/>
        </p:nvSpPr>
        <p:spPr>
          <a:xfrm>
            <a:off x="8987400" y="4685040"/>
            <a:ext cx="278964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Definition of bunch intensity scan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47" name="Straight Arrow Connector 13"/>
          <p:cNvSpPr/>
          <p:nvPr/>
        </p:nvSpPr>
        <p:spPr>
          <a:xfrm flipH="1" flipV="1">
            <a:off x="8348040" y="4762800"/>
            <a:ext cx="595440" cy="475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48" name="Oval 15"/>
          <p:cNvSpPr/>
          <p:nvPr/>
        </p:nvSpPr>
        <p:spPr>
          <a:xfrm>
            <a:off x="4095720" y="5470560"/>
            <a:ext cx="1959120" cy="25632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49" name="TextBox 26"/>
          <p:cNvSpPr/>
          <p:nvPr/>
        </p:nvSpPr>
        <p:spPr>
          <a:xfrm>
            <a:off x="8501760" y="5470560"/>
            <a:ext cx="278964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Number of simulated turns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50" name="Straight Arrow Connector 14"/>
          <p:cNvSpPr/>
          <p:nvPr/>
        </p:nvSpPr>
        <p:spPr>
          <a:xfrm flipH="1">
            <a:off x="6134760" y="5571720"/>
            <a:ext cx="2284560" cy="338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0705425-5379-4271-847F-ED0CB6BEB237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Left Brace 7"/>
          <p:cNvSpPr/>
          <p:nvPr/>
        </p:nvSpPr>
        <p:spPr>
          <a:xfrm>
            <a:off x="3517200" y="2586600"/>
            <a:ext cx="367560" cy="401940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52" name="TextBox 8"/>
          <p:cNvSpPr/>
          <p:nvPr/>
        </p:nvSpPr>
        <p:spPr>
          <a:xfrm>
            <a:off x="1252440" y="4411080"/>
            <a:ext cx="22356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P</a:t>
            </a:r>
            <a:r>
              <a:rPr b="0" lang="en-GB" sz="1600" spc="-1" strike="noStrike">
                <a:solidFill>
                  <a:srgbClr val="000000"/>
                </a:solidFill>
                <a:latin typeface="Aptos"/>
                <a:ea typeface="DejaVu Sans"/>
              </a:rPr>
              <a:t>lot the input wakes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831600" y="242280"/>
            <a:ext cx="8749440" cy="46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GB" sz="2800" spc="-1" strike="noStrike">
                <a:solidFill>
                  <a:srgbClr val="0070c0"/>
                </a:solidFill>
                <a:latin typeface="Aptos Display"/>
              </a:rPr>
              <a:t>Structure of the iPython notebook (4): 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54" name="Left Brace 11"/>
          <p:cNvSpPr/>
          <p:nvPr/>
        </p:nvSpPr>
        <p:spPr>
          <a:xfrm>
            <a:off x="3684600" y="877680"/>
            <a:ext cx="141840" cy="154116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55" name="TextBox 12"/>
          <p:cNvSpPr/>
          <p:nvPr/>
        </p:nvSpPr>
        <p:spPr>
          <a:xfrm>
            <a:off x="642960" y="1495800"/>
            <a:ext cx="30762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Import and configure wakes</a:t>
            </a:r>
            <a:endParaRPr b="0" lang="en-US" sz="1600" spc="-1" strike="noStrike">
              <a:latin typeface="Arial"/>
            </a:endParaRPr>
          </a:p>
        </p:txBody>
      </p:sp>
      <p:pic>
        <p:nvPicPr>
          <p:cNvPr id="256" name="" descr=""/>
          <p:cNvPicPr/>
          <p:nvPr/>
        </p:nvPicPr>
        <p:blipFill>
          <a:blip r:embed="rId1"/>
          <a:stretch/>
        </p:blipFill>
        <p:spPr>
          <a:xfrm>
            <a:off x="3930120" y="806400"/>
            <a:ext cx="7077960" cy="589428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44901BE-B184-43CC-A95F-66178149A8A0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831600" y="242280"/>
            <a:ext cx="8749440" cy="46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GB" sz="2800" spc="-1" strike="noStrike">
                <a:solidFill>
                  <a:srgbClr val="0070c0"/>
                </a:solidFill>
                <a:latin typeface="Aptos Display"/>
              </a:rPr>
              <a:t>Structure of the iPython notebook (5): </a:t>
            </a:r>
            <a:endParaRPr b="0" lang="en-US" sz="2800" spc="-1" strike="noStrike">
              <a:latin typeface="Arial"/>
            </a:endParaRPr>
          </a:p>
        </p:txBody>
      </p:sp>
      <p:pic>
        <p:nvPicPr>
          <p:cNvPr id="258" name="" descr=""/>
          <p:cNvPicPr/>
          <p:nvPr/>
        </p:nvPicPr>
        <p:blipFill>
          <a:blip r:embed="rId1"/>
          <a:stretch/>
        </p:blipFill>
        <p:spPr>
          <a:xfrm>
            <a:off x="1852200" y="1143000"/>
            <a:ext cx="10105920" cy="3656160"/>
          </a:xfrm>
          <a:prstGeom prst="rect">
            <a:avLst/>
          </a:prstGeom>
          <a:ln w="0">
            <a:noFill/>
          </a:ln>
        </p:spPr>
      </p:pic>
      <p:sp>
        <p:nvSpPr>
          <p:cNvPr id="259" name="Straight Arrow Connector 2"/>
          <p:cNvSpPr/>
          <p:nvPr/>
        </p:nvSpPr>
        <p:spPr>
          <a:xfrm flipH="1">
            <a:off x="5789160" y="3236400"/>
            <a:ext cx="7293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60" name="Oval 9"/>
          <p:cNvSpPr/>
          <p:nvPr/>
        </p:nvSpPr>
        <p:spPr>
          <a:xfrm>
            <a:off x="2550600" y="3056400"/>
            <a:ext cx="3198960" cy="3351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61" name="TextBox 10"/>
          <p:cNvSpPr/>
          <p:nvPr/>
        </p:nvSpPr>
        <p:spPr>
          <a:xfrm>
            <a:off x="8326800" y="3919680"/>
            <a:ext cx="2952360" cy="45468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Define segment map used for tracking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62" name="Straight Arrow Connector 8"/>
          <p:cNvSpPr/>
          <p:nvPr/>
        </p:nvSpPr>
        <p:spPr>
          <a:xfrm flipH="1" flipV="1">
            <a:off x="7151400" y="4020120"/>
            <a:ext cx="1062720" cy="900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63" name="Oval 12"/>
          <p:cNvSpPr/>
          <p:nvPr/>
        </p:nvSpPr>
        <p:spPr>
          <a:xfrm>
            <a:off x="2167200" y="3297600"/>
            <a:ext cx="4911480" cy="14511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64" name="TextBox 14"/>
          <p:cNvSpPr/>
          <p:nvPr/>
        </p:nvSpPr>
        <p:spPr>
          <a:xfrm>
            <a:off x="6593400" y="3079800"/>
            <a:ext cx="295236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Create circular aperture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65" name="Straight Arrow Connector 16"/>
          <p:cNvSpPr/>
          <p:nvPr/>
        </p:nvSpPr>
        <p:spPr>
          <a:xfrm flipH="1">
            <a:off x="3884760" y="1600200"/>
            <a:ext cx="7293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66" name="Oval 16"/>
          <p:cNvSpPr/>
          <p:nvPr/>
        </p:nvSpPr>
        <p:spPr>
          <a:xfrm>
            <a:off x="2214000" y="1492200"/>
            <a:ext cx="1598760" cy="2271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67" name="TextBox 16"/>
          <p:cNvSpPr/>
          <p:nvPr/>
        </p:nvSpPr>
        <p:spPr>
          <a:xfrm>
            <a:off x="4728600" y="1371600"/>
            <a:ext cx="2952360" cy="45468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Enable particle losses (needed for beam loss plot)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68" name="TextBox 23"/>
          <p:cNvSpPr/>
          <p:nvPr/>
        </p:nvSpPr>
        <p:spPr>
          <a:xfrm>
            <a:off x="353880" y="2309400"/>
            <a:ext cx="124488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Loop over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bunch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intensities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to be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scanned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9" name="Left Brace 8"/>
          <p:cNvSpPr/>
          <p:nvPr/>
        </p:nvSpPr>
        <p:spPr>
          <a:xfrm>
            <a:off x="1613160" y="1168560"/>
            <a:ext cx="220680" cy="363060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8993910-C7F6-4E7F-879B-9BFF5E01C241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" descr=""/>
          <p:cNvPicPr/>
          <p:nvPr/>
        </p:nvPicPr>
        <p:blipFill>
          <a:blip r:embed="rId1"/>
          <a:stretch/>
        </p:blipFill>
        <p:spPr>
          <a:xfrm>
            <a:off x="2005200" y="914400"/>
            <a:ext cx="9471960" cy="5295600"/>
          </a:xfrm>
          <a:prstGeom prst="rect">
            <a:avLst/>
          </a:prstGeom>
          <a:ln w="0">
            <a:noFill/>
          </a:ln>
        </p:spPr>
      </p:pic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831600" y="242280"/>
            <a:ext cx="8749440" cy="46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GB" sz="2800" spc="-1" strike="noStrike">
                <a:solidFill>
                  <a:srgbClr val="0070c0"/>
                </a:solidFill>
                <a:latin typeface="Aptos Display"/>
              </a:rPr>
              <a:t>Structure of the iPython notebook (6): 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72" name="Straight Arrow Connector 15"/>
          <p:cNvSpPr/>
          <p:nvPr/>
        </p:nvSpPr>
        <p:spPr>
          <a:xfrm flipH="1">
            <a:off x="8456760" y="1491840"/>
            <a:ext cx="837360" cy="3355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73" name="Oval 18"/>
          <p:cNvSpPr/>
          <p:nvPr/>
        </p:nvSpPr>
        <p:spPr>
          <a:xfrm>
            <a:off x="2743200" y="5257800"/>
            <a:ext cx="8456760" cy="9522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74" name="TextBox 25"/>
          <p:cNvSpPr/>
          <p:nvPr/>
        </p:nvSpPr>
        <p:spPr>
          <a:xfrm>
            <a:off x="8434800" y="4747680"/>
            <a:ext cx="295236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Create one turn map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75" name="Straight Arrow Connector 17"/>
          <p:cNvSpPr/>
          <p:nvPr/>
        </p:nvSpPr>
        <p:spPr>
          <a:xfrm flipH="1">
            <a:off x="7542000" y="4892040"/>
            <a:ext cx="834120" cy="3643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76" name="Oval 19"/>
          <p:cNvSpPr/>
          <p:nvPr/>
        </p:nvSpPr>
        <p:spPr>
          <a:xfrm>
            <a:off x="2167200" y="1828800"/>
            <a:ext cx="9032760" cy="29199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77" name="TextBox 27"/>
          <p:cNvSpPr/>
          <p:nvPr/>
        </p:nvSpPr>
        <p:spPr>
          <a:xfrm>
            <a:off x="9358200" y="1371600"/>
            <a:ext cx="182736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Create monitor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78" name="TextBox 29"/>
          <p:cNvSpPr/>
          <p:nvPr/>
        </p:nvSpPr>
        <p:spPr>
          <a:xfrm>
            <a:off x="353880" y="2309400"/>
            <a:ext cx="124488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Loop over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bunch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intensities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to be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scanned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79" name="Left Brace 9"/>
          <p:cNvSpPr/>
          <p:nvPr/>
        </p:nvSpPr>
        <p:spPr>
          <a:xfrm>
            <a:off x="1613160" y="939960"/>
            <a:ext cx="220680" cy="523080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1A07316-4044-4162-9383-7519B3ED9742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" descr=""/>
          <p:cNvPicPr/>
          <p:nvPr/>
        </p:nvPicPr>
        <p:blipFill>
          <a:blip r:embed="rId1"/>
          <a:stretch/>
        </p:blipFill>
        <p:spPr>
          <a:xfrm>
            <a:off x="1926000" y="889920"/>
            <a:ext cx="9795960" cy="5365440"/>
          </a:xfrm>
          <a:prstGeom prst="rect">
            <a:avLst/>
          </a:prstGeom>
          <a:ln w="0">
            <a:noFill/>
          </a:ln>
        </p:spPr>
      </p:pic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831600" y="242280"/>
            <a:ext cx="8749440" cy="46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GB" sz="2800" spc="-1" strike="noStrike">
                <a:solidFill>
                  <a:srgbClr val="0070c0"/>
                </a:solidFill>
                <a:latin typeface="Aptos Display"/>
              </a:rPr>
              <a:t>Structure of the iPython notebook (7): 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82" name="Straight Arrow Connector 18"/>
          <p:cNvSpPr/>
          <p:nvPr/>
        </p:nvSpPr>
        <p:spPr>
          <a:xfrm flipH="1">
            <a:off x="7160760" y="1887840"/>
            <a:ext cx="837360" cy="3355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83" name="Oval 20"/>
          <p:cNvSpPr/>
          <p:nvPr/>
        </p:nvSpPr>
        <p:spPr>
          <a:xfrm>
            <a:off x="2635200" y="5173200"/>
            <a:ext cx="6735960" cy="4071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84" name="TextBox 28"/>
          <p:cNvSpPr/>
          <p:nvPr/>
        </p:nvSpPr>
        <p:spPr>
          <a:xfrm>
            <a:off x="8434800" y="4747680"/>
            <a:ext cx="295236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Track particles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85" name="Straight Arrow Connector 20"/>
          <p:cNvSpPr/>
          <p:nvPr/>
        </p:nvSpPr>
        <p:spPr>
          <a:xfrm flipH="1">
            <a:off x="7770960" y="4892040"/>
            <a:ext cx="605520" cy="2797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86" name="Oval 21"/>
          <p:cNvSpPr/>
          <p:nvPr/>
        </p:nvSpPr>
        <p:spPr>
          <a:xfrm>
            <a:off x="2311200" y="1972800"/>
            <a:ext cx="5459760" cy="18507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87" name="TextBox 30"/>
          <p:cNvSpPr/>
          <p:nvPr/>
        </p:nvSpPr>
        <p:spPr>
          <a:xfrm>
            <a:off x="8085600" y="1749240"/>
            <a:ext cx="182736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Generate particles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88" name="TextBox 31"/>
          <p:cNvSpPr/>
          <p:nvPr/>
        </p:nvSpPr>
        <p:spPr>
          <a:xfrm>
            <a:off x="353880" y="2309400"/>
            <a:ext cx="124488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Loop over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bunch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intensities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to be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scanned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9" name="Left Brace 12"/>
          <p:cNvSpPr/>
          <p:nvPr/>
        </p:nvSpPr>
        <p:spPr>
          <a:xfrm>
            <a:off x="1613160" y="939960"/>
            <a:ext cx="220680" cy="523080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90" name="Oval 17"/>
          <p:cNvSpPr/>
          <p:nvPr/>
        </p:nvSpPr>
        <p:spPr>
          <a:xfrm>
            <a:off x="2772720" y="4190400"/>
            <a:ext cx="2940840" cy="2613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91" name="TextBox 9"/>
          <p:cNvSpPr/>
          <p:nvPr/>
        </p:nvSpPr>
        <p:spPr>
          <a:xfrm>
            <a:off x="7620840" y="4118760"/>
            <a:ext cx="3079800" cy="272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0000"/>
                </a:solidFill>
                <a:latin typeface="Aptos"/>
                <a:ea typeface="DejaVu Sans"/>
              </a:rPr>
              <a:t>Apply an initial kick to the distribution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92" name="Straight Arrow Connector 19"/>
          <p:cNvSpPr/>
          <p:nvPr/>
        </p:nvSpPr>
        <p:spPr>
          <a:xfrm flipH="1">
            <a:off x="5755320" y="4257360"/>
            <a:ext cx="1785600" cy="626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ff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95A84C6-B6F2-476F-872A-E500B203E0F4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1729080" y="120960"/>
            <a:ext cx="7755480" cy="553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>
              <a:lnSpc>
                <a:spcPct val="90000"/>
              </a:lnSpc>
              <a:buNone/>
            </a:pPr>
            <a:r>
              <a:rPr b="0" lang="en-GB" sz="2400" spc="-1" strike="noStrike">
                <a:solidFill>
                  <a:srgbClr val="0070c0"/>
                </a:solidFill>
                <a:latin typeface="Aptos Display"/>
              </a:rPr>
              <a:t>Structure of the Python notebook (7)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94" name="TextBox 4"/>
          <p:cNvSpPr/>
          <p:nvPr/>
        </p:nvSpPr>
        <p:spPr>
          <a:xfrm>
            <a:off x="220320" y="2271600"/>
            <a:ext cx="2595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Plot average horizontal </a:t>
            </a:r>
            <a:br>
              <a:rPr sz="1600"/>
            </a:b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positions/intensity of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ptos"/>
                <a:ea typeface="DejaVu Sans"/>
              </a:rPr>
              <a:t>the bunch turn by turn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95" name="Left Brace 10"/>
          <p:cNvSpPr/>
          <p:nvPr/>
        </p:nvSpPr>
        <p:spPr>
          <a:xfrm>
            <a:off x="2751840" y="899280"/>
            <a:ext cx="213120" cy="389988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296" name="" descr=""/>
          <p:cNvPicPr/>
          <p:nvPr/>
        </p:nvPicPr>
        <p:blipFill>
          <a:blip r:embed="rId1"/>
          <a:stretch/>
        </p:blipFill>
        <p:spPr>
          <a:xfrm>
            <a:off x="3148200" y="855360"/>
            <a:ext cx="7052760" cy="39438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67E01CC-FC9A-42D7-8A70-781AC21933FA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7" name="Picture 6" descr=""/>
          <p:cNvPicPr/>
          <p:nvPr/>
        </p:nvPicPr>
        <p:blipFill>
          <a:blip r:embed="rId1"/>
          <a:srcRect l="0" t="0" r="0" b="30858"/>
          <a:stretch/>
        </p:blipFill>
        <p:spPr>
          <a:xfrm>
            <a:off x="3977640" y="1236960"/>
            <a:ext cx="7115400" cy="3700440"/>
          </a:xfrm>
          <a:prstGeom prst="rect">
            <a:avLst/>
          </a:prstGeom>
          <a:ln w="0">
            <a:noFill/>
          </a:ln>
        </p:spPr>
      </p:pic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1798920" y="206640"/>
            <a:ext cx="7884720" cy="48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0" lang="en-US" sz="3600" spc="-1" strike="noStrike">
                <a:solidFill>
                  <a:srgbClr val="0070c0"/>
                </a:solidFill>
                <a:latin typeface="Aptos Display"/>
              </a:rPr>
              <a:t>ipython cheat sheet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1798920" y="960840"/>
            <a:ext cx="8493840" cy="5731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95000"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To restart the kernel at any point: “Kernel” →</a:t>
            </a:r>
            <a:r>
              <a:rPr b="0" lang="en-US" sz="2000" spc="-1" strike="noStrike">
                <a:solidFill>
                  <a:srgbClr val="000000"/>
                </a:solidFill>
                <a:latin typeface="Wingdings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 “Restart”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000" spc="-1" strike="noStrike"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To only interrupt the kernel: “Kernel” →</a:t>
            </a:r>
            <a:r>
              <a:rPr b="0" lang="en-US" sz="2000" spc="-1" strike="noStrike">
                <a:solidFill>
                  <a:srgbClr val="000000"/>
                </a:solidFill>
                <a:latin typeface="Wingdings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 “Interrupt”</a:t>
            </a:r>
            <a:endParaRPr b="0" lang="en-US" sz="2000" spc="-1" strike="noStrike"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Shift-enter: execute current cell and move to next cell</a:t>
            </a:r>
            <a:endParaRPr b="0" lang="en-US" sz="2000" spc="-1" strike="noStrike"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Ctrl-enter: execute current cell and stay on current cell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300" name="Rectangle 4"/>
          <p:cNvSpPr/>
          <p:nvPr/>
        </p:nvSpPr>
        <p:spPr>
          <a:xfrm>
            <a:off x="5688000" y="2274840"/>
            <a:ext cx="500040" cy="243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</p:sp>
      <p:sp>
        <p:nvSpPr>
          <p:cNvPr id="301" name="Rectangle 8"/>
          <p:cNvSpPr/>
          <p:nvPr/>
        </p:nvSpPr>
        <p:spPr>
          <a:xfrm>
            <a:off x="5820480" y="2786040"/>
            <a:ext cx="1068120" cy="1857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04AA201-E232-46EB-977F-5B4C7E6B6A22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17386</TotalTime>
  <Application>LibreOffice/7.3.7.2$Linux_X86_64 LibreOffice_project/30$Build-2</Application>
  <AppVersion>15.0000</AppVersion>
  <Words>1146</Words>
  <Paragraphs>215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2025-05-28T16:16:16Z</dcterms:created>
  <dc:creator>Benoit Salvant</dc:creator>
  <dc:description/>
  <dc:language>en-US</dc:language>
  <cp:lastModifiedBy/>
  <dcterms:modified xsi:type="dcterms:W3CDTF">2026-02-09T18:12:41Z</dcterms:modified>
  <cp:revision>147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36</vt:i4>
  </property>
</Properties>
</file>