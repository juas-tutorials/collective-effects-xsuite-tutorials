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1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3B0EAC-565E-4DF6-8E58-6089690A66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51183A-9671-4B01-9A8F-30E8541527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BDAEC2-56D2-493E-A7CD-F7B2C2EA87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A71B0A-BB7D-4752-A8D5-ED52C1B0C2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734AD3-A7C8-42A2-B70B-C6124439A1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BFACE6-4CD1-4C87-82FD-2961456C32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DCDC4B-BD71-4175-AA39-3C8E1DFB25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FDF7D7-2C7C-4618-AB06-4CCE0B12B4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BB55AF-7EBD-4B77-A03E-236A515190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9E2884-3D0B-486D-A0F2-C894E0FE42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C80596-68E7-4518-964C-4F1B71130E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5B5D0E-0A9C-46A2-9193-36317F3F58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A6F36E-07A5-41F1-BD5E-DAC0A23251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EEC91C-387A-4E74-A74A-3EDF4696C3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8D77CF-4A50-481D-A383-7D4B5AE05E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AD9B40-C87C-4523-9E1D-EDBCFDDD8E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6F893E-9D56-4B35-8E55-DDF61419F0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0F07F2-0D37-480C-BA0E-154A6E240E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865A37-1986-4C95-9D82-3A055EC281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C525D0-DAAB-452F-81DD-0AAF55E581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B102EA-2221-4E6F-A50E-C1078ABFBB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801854-0A67-4F1C-B7CE-54422E0D5B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647152-55F6-47B8-99DF-AABC34BA39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DB3108-D6F1-4EFE-94F4-C502940D35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B141A12-262D-4EC1-92D3-A7413D3E60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A4B0EE-E87A-46CC-8CD7-6C8D632E3E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9F399E-8607-4C46-887E-98F7C70C28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0BBA5C1-D093-41EA-9F11-62B2B74AC5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65B713D-AF1C-4499-A918-9F8D90FAA3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C7A72C-21FD-4CF5-9A0B-B1693510F4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878B5C-0933-483B-9861-619FE6EF21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9813C80-7378-4F41-986A-14D450753F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EEC60D-3875-4531-9B74-42A1D6386A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136746-C7AA-41DF-9122-F7132130F1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0EC37E-F535-4C43-B45F-587B87C684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0375CE3-C403-4AA6-B8F3-27AE9FC5A3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/>
          <p:cNvSpPr/>
          <p:nvPr/>
        </p:nvSpPr>
        <p:spPr>
          <a:xfrm>
            <a:off x="0" y="0"/>
            <a:ext cx="161280" cy="6856560"/>
          </a:xfrm>
          <a:prstGeom prst="rect">
            <a:avLst/>
          </a:prstGeom>
          <a:solidFill>
            <a:srgbClr val="0070c0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9448920" y="65037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60B6A3-EF11-49D7-9223-F0C909A68911}" type="slidenum">
              <a:rPr b="0" lang="en-GB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8"/>
          <p:cNvSpPr/>
          <p:nvPr/>
        </p:nvSpPr>
        <p:spPr>
          <a:xfrm>
            <a:off x="0" y="0"/>
            <a:ext cx="161280" cy="6856560"/>
          </a:xfrm>
          <a:prstGeom prst="rect">
            <a:avLst/>
          </a:prstGeom>
          <a:solidFill>
            <a:srgbClr val="0070c0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5"/>
          </p:nvPr>
        </p:nvSpPr>
        <p:spPr>
          <a:xfrm>
            <a:off x="9448920" y="65037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9FDA66-B2D5-4EA4-94FD-54FA62676D7F}" type="slidenum">
              <a:rPr b="0" lang="en-GB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"/>
          <p:cNvSpPr/>
          <p:nvPr/>
        </p:nvSpPr>
        <p:spPr>
          <a:xfrm>
            <a:off x="0" y="0"/>
            <a:ext cx="161280" cy="6856560"/>
          </a:xfrm>
          <a:prstGeom prst="rect">
            <a:avLst/>
          </a:prstGeom>
          <a:solidFill>
            <a:srgbClr val="0070c0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8"/>
          </p:nvPr>
        </p:nvSpPr>
        <p:spPr>
          <a:xfrm>
            <a:off x="9448920" y="65037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F2E80B-E7C0-4915-BCB2-82BAB6CBA009}" type="slidenum">
              <a:rPr b="0" lang="en-GB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JUAS-tutorials/collective-effects-xsuite-tutorials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612440" y="825840"/>
            <a:ext cx="9142560" cy="337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70c0"/>
                </a:solidFill>
                <a:latin typeface="Aptos Display"/>
              </a:rPr>
              <a:t>JUAS</a:t>
            </a:r>
            <a:br>
              <a:rPr sz="4400"/>
            </a:br>
            <a:br>
              <a:rPr sz="4400"/>
            </a:br>
            <a:r>
              <a:rPr b="0" lang="en-US" sz="4400" spc="-1" strike="noStrike">
                <a:solidFill>
                  <a:srgbClr val="0070c0"/>
                </a:solidFill>
                <a:latin typeface="Aptos Display"/>
              </a:rPr>
              <a:t>Xsuite tutorial: Collective effects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968400" y="5058360"/>
            <a:ext cx="1025352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David Amorim, Elena de la Fuente Garcia, Sébastien Joly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The tutorial was inspired from the CAS Intensity Limitations in Hadron Beams ones (many thanks for the material!)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686D6A-F212-4FE9-A7EF-BA9DE0E79EFA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Download files from github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42520" y="1080720"/>
            <a:ext cx="10657800" cy="463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7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386fe5"/>
              </a:buClr>
              <a:buFont typeface="Arial"/>
              <a:buChar char="•"/>
            </a:pPr>
            <a:r>
              <a:rPr b="0" lang="en-GB" sz="2000" spc="-1" strike="noStrike" u="sng">
                <a:solidFill>
                  <a:srgbClr val="467886"/>
                </a:solidFill>
                <a:uFillTx/>
                <a:latin typeface="Open Sans"/>
                <a:hlinkClick r:id="rId1"/>
              </a:rPr>
              <a:t>https://github.com/JUAS-tutorials/collective-effects-xsuite-tutorials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GB" sz="2400" spc="-1" strike="noStrike">
                <a:solidFill>
                  <a:srgbClr val="000000"/>
                </a:solidFill>
                <a:latin typeface="Aptos"/>
              </a:rPr>
              <a:t>Save the files: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GB" sz="2400" spc="-1" strike="noStrike">
                <a:solidFill>
                  <a:srgbClr val="000000"/>
                </a:solidFill>
                <a:latin typeface="Aptos"/>
              </a:rPr>
              <a:t>Code → git clone https://github.com/JUAS-tutorials/collective-effects-xsuite-tutorials.git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GB" sz="2400" spc="-1" strike="noStrike">
                <a:solidFill>
                  <a:srgbClr val="000000"/>
                </a:solidFill>
                <a:latin typeface="Aptos"/>
              </a:rPr>
              <a:t>Code → Download ZIP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Aptos"/>
              </a:rPr>
              <a:t>Remember where you saved the files, you will need their location to open the notebook!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914400" y="1575360"/>
            <a:ext cx="8997840" cy="2658960"/>
          </a:xfrm>
          <a:prstGeom prst="rect">
            <a:avLst/>
          </a:prstGeom>
          <a:ln w="36720">
            <a:noFill/>
          </a:ln>
        </p:spPr>
      </p:pic>
      <p:sp>
        <p:nvSpPr>
          <p:cNvPr id="131" name=""/>
          <p:cNvSpPr/>
          <p:nvPr/>
        </p:nvSpPr>
        <p:spPr>
          <a:xfrm>
            <a:off x="1143000" y="3393000"/>
            <a:ext cx="1827720" cy="75672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5B13E3-76C2-4888-A26F-53264C74C15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Open notebook in jupyter lab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40080" y="1095120"/>
            <a:ext cx="7885440" cy="523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In Ubuntu, change directory to the folder where the files are located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Open jupyter lab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Paste the webpage address</a:t>
            </a:r>
            <a:br>
              <a:rPr sz="2000"/>
            </a:br>
            <a:r>
              <a:rPr b="0" lang="en-US" sz="1400" spc="-1" strike="noStrike">
                <a:solidFill>
                  <a:srgbClr val="000000"/>
                </a:solidFill>
                <a:latin typeface="Aptos"/>
              </a:rPr>
              <a:t>http://localhost:8888/lab?token=[...]</a:t>
            </a:r>
            <a:br>
              <a:rPr sz="1400"/>
            </a:b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to any browser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34" name="Picture 7" descr=""/>
          <p:cNvPicPr/>
          <p:nvPr/>
        </p:nvPicPr>
        <p:blipFill>
          <a:blip r:embed="rId1"/>
          <a:stretch/>
        </p:blipFill>
        <p:spPr>
          <a:xfrm>
            <a:off x="5315040" y="1817280"/>
            <a:ext cx="5351400" cy="4130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599722-1E47-4B9E-BC10-B9CEED9B6FC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Open notebook in jupyter lab and run it!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464760" y="925200"/>
            <a:ext cx="10278720" cy="5758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2D0316-2994-4721-BD3B-8EECC0873E5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Macro-particle tracking simulations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rcRect l="0" t="9475" r="0" b="5980"/>
          <a:stretch/>
        </p:blipFill>
        <p:spPr>
          <a:xfrm>
            <a:off x="685800" y="1035000"/>
            <a:ext cx="8685720" cy="54849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HL-LHC wake model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06080" y="2057400"/>
            <a:ext cx="6247440" cy="411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The HL-LHC wake model includes the main wake contributors (vacuum chamber, collimators, vacuum instrumentation, beam dump, etc)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The wakefield produced by a particle can interact with its own bunch, the following or even turns later!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41" name="Picture 2" descr="A graph of a wake&#10;&#10;AI-generated content may be incorrect."/>
          <p:cNvPicPr/>
          <p:nvPr/>
        </p:nvPicPr>
        <p:blipFill>
          <a:blip r:embed="rId1"/>
          <a:stretch/>
        </p:blipFill>
        <p:spPr>
          <a:xfrm>
            <a:off x="6581880" y="2057400"/>
            <a:ext cx="5493960" cy="411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Instability signature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573560"/>
            <a:ext cx="10514160" cy="137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Exponential growth of the bunch transverse position → bunch losses once it hits the vacuum chamber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" name="Content Placeholder 9"/>
          <p:cNvSpPr/>
          <p:nvPr/>
        </p:nvSpPr>
        <p:spPr>
          <a:xfrm>
            <a:off x="6534000" y="2550600"/>
            <a:ext cx="571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ptos"/>
                <a:ea typeface="DejaVu Sans"/>
              </a:rPr>
              <a:t>Vacuum chamber ⌀ = 1 cm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757800" y="2947320"/>
            <a:ext cx="5211720" cy="388656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6462000" y="2946240"/>
            <a:ext cx="5239800" cy="391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Task 1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Scan chromaticity (use big steps, stay within the range [-100,100]), when is the beam stable?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Does the sign of chromaticity play a role?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Is having a large chromaticity usually a good idea?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rcRect l="0" t="-385" r="5627" b="13"/>
          <a:stretch/>
        </p:blipFill>
        <p:spPr>
          <a:xfrm>
            <a:off x="381240" y="2743200"/>
            <a:ext cx="11504520" cy="25131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Task 2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  <a:ea typeface="Noto Sans CJK SC"/>
              </a:rPr>
              <a:t>Scan the transverse feedback damping time (stay within the range [1,</a:t>
            </a:r>
            <a:r>
              <a:rPr b="0" lang="en-US" sz="2800" spc="-1" strike="noStrike">
                <a:solidFill>
                  <a:srgbClr val="000000"/>
                </a:solidFill>
                <a:latin typeface="utkal"/>
                <a:ea typeface="utkal"/>
              </a:rPr>
              <a:t>∞</a:t>
            </a:r>
            <a:r>
              <a:rPr b="0" lang="en-US" sz="2800" spc="-1" strike="noStrike">
                <a:solidFill>
                  <a:srgbClr val="000000"/>
                </a:solidFill>
                <a:latin typeface="Aptos"/>
                <a:ea typeface="utkal"/>
              </a:rPr>
              <a:t>]), when is the beam stable?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  <a:ea typeface="utkal"/>
              </a:rPr>
              <a:t>Which damper gain would be required to stabilize the beam for a Q' = 0?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rcRect l="0" t="0" r="5954" b="0"/>
          <a:stretch/>
        </p:blipFill>
        <p:spPr>
          <a:xfrm>
            <a:off x="421200" y="3093120"/>
            <a:ext cx="11464560" cy="13575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31640" y="13644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Task 3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Add the bellows’ impedance (modeled as a resonator), what happens?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Bonus: Replace the bellows by the shielded bellows’ impedance, what does it change?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rcRect l="0" t="0" r="5954" b="0"/>
          <a:stretch/>
        </p:blipFill>
        <p:spPr>
          <a:xfrm>
            <a:off x="421200" y="2802960"/>
            <a:ext cx="11464560" cy="1937880"/>
          </a:xfrm>
          <a:prstGeom prst="rect">
            <a:avLst/>
          </a:prstGeom>
          <a:ln w="36720">
            <a:noFill/>
          </a:ln>
        </p:spPr>
      </p:pic>
      <p:sp>
        <p:nvSpPr>
          <p:cNvPr id="156" name=""/>
          <p:cNvSpPr/>
          <p:nvPr/>
        </p:nvSpPr>
        <p:spPr>
          <a:xfrm flipH="1" flipV="1">
            <a:off x="6858000" y="3200400"/>
            <a:ext cx="228600" cy="4572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4400" y="3200400"/>
            <a:ext cx="1051416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4200" spc="-1" strike="noStrike">
                <a:solidFill>
                  <a:srgbClr val="0070c0"/>
                </a:solidFill>
                <a:latin typeface="Aptos Display"/>
              </a:rPr>
              <a:t>Notebook file structure</a:t>
            </a:r>
            <a:endParaRPr b="0" lang="en-US" sz="4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27720" y="123480"/>
            <a:ext cx="8854200" cy="101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(1):importing libraries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9" name="TextBox 1"/>
          <p:cNvSpPr/>
          <p:nvPr/>
        </p:nvSpPr>
        <p:spPr>
          <a:xfrm>
            <a:off x="1226880" y="2644560"/>
            <a:ext cx="24084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DejaVu Sans"/>
              </a:rPr>
              <a:t>Import xtrack, xpart, xwakes and xobjects from Xsuite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DejaVu Sans"/>
              </a:rPr>
              <a:t>and import other</a:t>
            </a:r>
            <a:br>
              <a:rPr sz="1800"/>
            </a:b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DejaVu Sans"/>
              </a:rPr>
              <a:t>required libraries and functions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0" name="Left Brace 1"/>
          <p:cNvSpPr/>
          <p:nvPr/>
        </p:nvSpPr>
        <p:spPr>
          <a:xfrm>
            <a:off x="3762000" y="1620000"/>
            <a:ext cx="172800" cy="36784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61" name="" descr=""/>
          <p:cNvPicPr/>
          <p:nvPr/>
        </p:nvPicPr>
        <p:blipFill>
          <a:blip r:embed="rId1"/>
          <a:srcRect l="0" t="0" r="23597" b="0"/>
          <a:stretch/>
        </p:blipFill>
        <p:spPr>
          <a:xfrm>
            <a:off x="4412160" y="1756800"/>
            <a:ext cx="6978960" cy="3425400"/>
          </a:xfrm>
          <a:prstGeom prst="rect">
            <a:avLst/>
          </a:prstGeom>
          <a:ln w="0">
            <a:noFill/>
          </a:ln>
        </p:spPr>
      </p:pic>
      <p:sp>
        <p:nvSpPr>
          <p:cNvPr id="162" name="Oval 1"/>
          <p:cNvSpPr/>
          <p:nvPr/>
        </p:nvSpPr>
        <p:spPr>
          <a:xfrm>
            <a:off x="4682880" y="3205440"/>
            <a:ext cx="2174400" cy="1101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F736EB-A141-4688-90BE-1657500FC75A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4656600" y="1395000"/>
            <a:ext cx="7314480" cy="5114160"/>
          </a:xfrm>
          <a:prstGeom prst="rect">
            <a:avLst/>
          </a:prstGeom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1600" y="242280"/>
            <a:ext cx="8750160" cy="4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(2): input parameters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5" name="Left Brace 2"/>
          <p:cNvSpPr/>
          <p:nvPr/>
        </p:nvSpPr>
        <p:spPr>
          <a:xfrm>
            <a:off x="4413960" y="1120680"/>
            <a:ext cx="168840" cy="557460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TextBox 2"/>
          <p:cNvSpPr/>
          <p:nvPr/>
        </p:nvSpPr>
        <p:spPr>
          <a:xfrm>
            <a:off x="1806480" y="3429000"/>
            <a:ext cx="2832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DejaVu Sans"/>
              </a:rPr>
              <a:t>Set machine and beam</a:t>
            </a:r>
            <a:br>
              <a:rPr sz="1800"/>
            </a:b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DejaVu Sans"/>
              </a:rPr>
              <a:t>parameters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7" name="Oval 2"/>
          <p:cNvSpPr/>
          <p:nvPr/>
        </p:nvSpPr>
        <p:spPr>
          <a:xfrm>
            <a:off x="5122800" y="1751040"/>
            <a:ext cx="2420280" cy="207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TextBox 3"/>
          <p:cNvSpPr/>
          <p:nvPr/>
        </p:nvSpPr>
        <p:spPr>
          <a:xfrm>
            <a:off x="8217000" y="1730520"/>
            <a:ext cx="2458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Machine circumference (in m)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9" name="Straight Arrow Connector 1"/>
          <p:cNvSpPr/>
          <p:nvPr/>
        </p:nvSpPr>
        <p:spPr>
          <a:xfrm flipH="1" flipV="1">
            <a:off x="7542720" y="1853640"/>
            <a:ext cx="638280" cy="12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" name="Oval 3"/>
          <p:cNvSpPr/>
          <p:nvPr/>
        </p:nvSpPr>
        <p:spPr>
          <a:xfrm>
            <a:off x="5029200" y="2971440"/>
            <a:ext cx="4219560" cy="293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" name="TextBox 5"/>
          <p:cNvSpPr/>
          <p:nvPr/>
        </p:nvSpPr>
        <p:spPr>
          <a:xfrm>
            <a:off x="9876960" y="2980440"/>
            <a:ext cx="136440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LHC wake table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2" name="Straight Arrow Connector 3"/>
          <p:cNvSpPr/>
          <p:nvPr/>
        </p:nvSpPr>
        <p:spPr>
          <a:xfrm flipH="1">
            <a:off x="9248760" y="3119040"/>
            <a:ext cx="579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Oval 4"/>
          <p:cNvSpPr/>
          <p:nvPr/>
        </p:nvSpPr>
        <p:spPr>
          <a:xfrm>
            <a:off x="5029200" y="4281480"/>
            <a:ext cx="2576880" cy="275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TextBox 6"/>
          <p:cNvSpPr/>
          <p:nvPr/>
        </p:nvSpPr>
        <p:spPr>
          <a:xfrm>
            <a:off x="8998560" y="4383000"/>
            <a:ext cx="13744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No acceleration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5" name="Straight Arrow Connector 4"/>
          <p:cNvSpPr/>
          <p:nvPr/>
        </p:nvSpPr>
        <p:spPr>
          <a:xfrm flipH="1" flipV="1">
            <a:off x="7642080" y="4414680"/>
            <a:ext cx="1313280" cy="104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Oval 5"/>
          <p:cNvSpPr/>
          <p:nvPr/>
        </p:nvSpPr>
        <p:spPr>
          <a:xfrm>
            <a:off x="4800600" y="4800600"/>
            <a:ext cx="4571280" cy="20566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TextBox 7"/>
          <p:cNvSpPr/>
          <p:nvPr/>
        </p:nvSpPr>
        <p:spPr>
          <a:xfrm>
            <a:off x="10123200" y="5775480"/>
            <a:ext cx="151092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RF parameters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Straight Arrow Connector 5"/>
          <p:cNvSpPr/>
          <p:nvPr/>
        </p:nvSpPr>
        <p:spPr>
          <a:xfrm flipH="1">
            <a:off x="9406800" y="5914080"/>
            <a:ext cx="650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914A85-60F9-4471-A2EA-E9D6005F073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4091400" y="768600"/>
            <a:ext cx="7295400" cy="5908680"/>
          </a:xfrm>
          <a:prstGeom prst="rect">
            <a:avLst/>
          </a:prstGeom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06680" y="113400"/>
            <a:ext cx="7756200" cy="55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7000"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Python notebook (3): input parameters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1818720" y="1447560"/>
            <a:ext cx="2061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600" spc="-1" strike="noStrike">
                <a:solidFill>
                  <a:srgbClr val="000000"/>
                </a:solidFill>
                <a:latin typeface="Aptos"/>
                <a:ea typeface="DejaVu Sans"/>
              </a:rPr>
              <a:t>Optics parameters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2" name="Left Brace 3"/>
          <p:cNvSpPr/>
          <p:nvPr/>
        </p:nvSpPr>
        <p:spPr>
          <a:xfrm>
            <a:off x="3912480" y="897120"/>
            <a:ext cx="106200" cy="149616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Oval 6"/>
          <p:cNvSpPr/>
          <p:nvPr/>
        </p:nvSpPr>
        <p:spPr>
          <a:xfrm>
            <a:off x="4055400" y="1166040"/>
            <a:ext cx="1358280" cy="8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TextBox 13"/>
          <p:cNvSpPr/>
          <p:nvPr/>
        </p:nvSpPr>
        <p:spPr>
          <a:xfrm>
            <a:off x="8350200" y="1340280"/>
            <a:ext cx="20764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Transverse tunes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5" name="Straight Arrow Connector 6"/>
          <p:cNvSpPr/>
          <p:nvPr/>
        </p:nvSpPr>
        <p:spPr>
          <a:xfrm flipH="1">
            <a:off x="5485680" y="1478520"/>
            <a:ext cx="286200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" name="Oval 8"/>
          <p:cNvSpPr/>
          <p:nvPr/>
        </p:nvSpPr>
        <p:spPr>
          <a:xfrm>
            <a:off x="4019760" y="953280"/>
            <a:ext cx="1784520" cy="212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" name="TextBox 15"/>
          <p:cNvSpPr/>
          <p:nvPr/>
        </p:nvSpPr>
        <p:spPr>
          <a:xfrm>
            <a:off x="8214120" y="828000"/>
            <a:ext cx="259992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Momentum compaction factor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Straight Arrow Connector 7"/>
          <p:cNvSpPr/>
          <p:nvPr/>
        </p:nvSpPr>
        <p:spPr>
          <a:xfrm flipH="1">
            <a:off x="5839920" y="914400"/>
            <a:ext cx="2387880" cy="144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" name="TextBox 17"/>
          <p:cNvSpPr/>
          <p:nvPr/>
        </p:nvSpPr>
        <p:spPr>
          <a:xfrm>
            <a:off x="1121040" y="3042720"/>
            <a:ext cx="2683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Initial bunch parameters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0" name="Left Brace 4"/>
          <p:cNvSpPr/>
          <p:nvPr/>
        </p:nvSpPr>
        <p:spPr>
          <a:xfrm>
            <a:off x="3862080" y="2629080"/>
            <a:ext cx="156240" cy="116856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Oval 10"/>
          <p:cNvSpPr/>
          <p:nvPr/>
        </p:nvSpPr>
        <p:spPr>
          <a:xfrm>
            <a:off x="4095720" y="3321000"/>
            <a:ext cx="1439640" cy="212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TextBox 19"/>
          <p:cNvSpPr/>
          <p:nvPr/>
        </p:nvSpPr>
        <p:spPr>
          <a:xfrm>
            <a:off x="7508160" y="3268800"/>
            <a:ext cx="143964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Bunch length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" name="Straight Arrow Connector 10"/>
          <p:cNvSpPr/>
          <p:nvPr/>
        </p:nvSpPr>
        <p:spPr>
          <a:xfrm flipH="1">
            <a:off x="5622480" y="3418560"/>
            <a:ext cx="1847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Oval 11"/>
          <p:cNvSpPr/>
          <p:nvPr/>
        </p:nvSpPr>
        <p:spPr>
          <a:xfrm>
            <a:off x="4129560" y="3932640"/>
            <a:ext cx="2125800" cy="212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TextBox 20"/>
          <p:cNvSpPr/>
          <p:nvPr/>
        </p:nvSpPr>
        <p:spPr>
          <a:xfrm>
            <a:off x="7543800" y="3869280"/>
            <a:ext cx="2125800" cy="454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Number of macroparticles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Straight Arrow Connector 11"/>
          <p:cNvSpPr/>
          <p:nvPr/>
        </p:nvSpPr>
        <p:spPr>
          <a:xfrm flipH="1">
            <a:off x="6255360" y="4007520"/>
            <a:ext cx="1285920" cy="3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" name="Oval 13"/>
          <p:cNvSpPr/>
          <p:nvPr/>
        </p:nvSpPr>
        <p:spPr>
          <a:xfrm>
            <a:off x="4129560" y="4114440"/>
            <a:ext cx="2125800" cy="212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" name="TextBox 21"/>
          <p:cNvSpPr/>
          <p:nvPr/>
        </p:nvSpPr>
        <p:spPr>
          <a:xfrm>
            <a:off x="7579800" y="4362480"/>
            <a:ext cx="212580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Number of slices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" name="Straight Arrow Connector 12"/>
          <p:cNvSpPr/>
          <p:nvPr/>
        </p:nvSpPr>
        <p:spPr>
          <a:xfrm flipH="1" flipV="1">
            <a:off x="6255360" y="4219920"/>
            <a:ext cx="1285920" cy="170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TextBox 22"/>
          <p:cNvSpPr/>
          <p:nvPr/>
        </p:nvSpPr>
        <p:spPr>
          <a:xfrm>
            <a:off x="2412000" y="4890600"/>
            <a:ext cx="22633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Simulation parameters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1" name="Left Brace 5"/>
          <p:cNvSpPr/>
          <p:nvPr/>
        </p:nvSpPr>
        <p:spPr>
          <a:xfrm>
            <a:off x="3886920" y="3798360"/>
            <a:ext cx="131400" cy="27946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" name="Oval 14"/>
          <p:cNvSpPr/>
          <p:nvPr/>
        </p:nvSpPr>
        <p:spPr>
          <a:xfrm>
            <a:off x="3886920" y="4541040"/>
            <a:ext cx="4436280" cy="436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" name="TextBox 24"/>
          <p:cNvSpPr/>
          <p:nvPr/>
        </p:nvSpPr>
        <p:spPr>
          <a:xfrm>
            <a:off x="8987400" y="4685040"/>
            <a:ext cx="279036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Definition of bunch intensity scan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" name="Straight Arrow Connector 13"/>
          <p:cNvSpPr/>
          <p:nvPr/>
        </p:nvSpPr>
        <p:spPr>
          <a:xfrm flipH="1" flipV="1">
            <a:off x="8348760" y="4763520"/>
            <a:ext cx="596160" cy="4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" name="Oval 15"/>
          <p:cNvSpPr/>
          <p:nvPr/>
        </p:nvSpPr>
        <p:spPr>
          <a:xfrm>
            <a:off x="4095720" y="5470560"/>
            <a:ext cx="1959840" cy="257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" name="TextBox 26"/>
          <p:cNvSpPr/>
          <p:nvPr/>
        </p:nvSpPr>
        <p:spPr>
          <a:xfrm>
            <a:off x="8501760" y="5470560"/>
            <a:ext cx="279036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Number of simulated turns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7" name="Straight Arrow Connector 14"/>
          <p:cNvSpPr/>
          <p:nvPr/>
        </p:nvSpPr>
        <p:spPr>
          <a:xfrm flipH="1">
            <a:off x="6135480" y="5571720"/>
            <a:ext cx="2285280" cy="34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B08EE6-E365-451D-895D-925474BBB31A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eft Brace 7"/>
          <p:cNvSpPr/>
          <p:nvPr/>
        </p:nvSpPr>
        <p:spPr>
          <a:xfrm>
            <a:off x="3517200" y="2586600"/>
            <a:ext cx="368280" cy="40201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TextBox 8"/>
          <p:cNvSpPr/>
          <p:nvPr/>
        </p:nvSpPr>
        <p:spPr>
          <a:xfrm>
            <a:off x="1252440" y="4411080"/>
            <a:ext cx="2235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P</a:t>
            </a:r>
            <a:r>
              <a:rPr b="0" lang="en-GB" sz="1600" spc="-1" strike="noStrike">
                <a:solidFill>
                  <a:srgbClr val="000000"/>
                </a:solidFill>
                <a:latin typeface="Aptos"/>
                <a:ea typeface="DejaVu Sans"/>
              </a:rPr>
              <a:t>lot the input wakes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1600" y="242280"/>
            <a:ext cx="8750160" cy="4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(4):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1" name="Left Brace 11"/>
          <p:cNvSpPr/>
          <p:nvPr/>
        </p:nvSpPr>
        <p:spPr>
          <a:xfrm>
            <a:off x="3684600" y="877680"/>
            <a:ext cx="142560" cy="15418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TextBox 12"/>
          <p:cNvSpPr/>
          <p:nvPr/>
        </p:nvSpPr>
        <p:spPr>
          <a:xfrm>
            <a:off x="642960" y="1495800"/>
            <a:ext cx="3076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Import and configure wakes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3930120" y="806400"/>
            <a:ext cx="7078680" cy="5895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8544CF-E5B6-4E8E-A3E0-2F30067798A5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1600" y="242280"/>
            <a:ext cx="8750160" cy="4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(5): 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1852200" y="1143000"/>
            <a:ext cx="10106640" cy="3656880"/>
          </a:xfrm>
          <a:prstGeom prst="rect">
            <a:avLst/>
          </a:prstGeom>
          <a:ln w="0">
            <a:noFill/>
          </a:ln>
        </p:spPr>
      </p:pic>
      <p:sp>
        <p:nvSpPr>
          <p:cNvPr id="216" name="Straight Arrow Connector 2"/>
          <p:cNvSpPr/>
          <p:nvPr/>
        </p:nvSpPr>
        <p:spPr>
          <a:xfrm flipH="1">
            <a:off x="5789880" y="3236400"/>
            <a:ext cx="730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Oval 9"/>
          <p:cNvSpPr/>
          <p:nvPr/>
        </p:nvSpPr>
        <p:spPr>
          <a:xfrm>
            <a:off x="2550600" y="3056400"/>
            <a:ext cx="3199680" cy="335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8" name="TextBox 10"/>
          <p:cNvSpPr/>
          <p:nvPr/>
        </p:nvSpPr>
        <p:spPr>
          <a:xfrm>
            <a:off x="8326800" y="3919680"/>
            <a:ext cx="2953080" cy="454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Define segment map used for tracking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9" name="Straight Arrow Connector 8"/>
          <p:cNvSpPr/>
          <p:nvPr/>
        </p:nvSpPr>
        <p:spPr>
          <a:xfrm flipH="1" flipV="1">
            <a:off x="7152120" y="4020840"/>
            <a:ext cx="10634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0" name="Oval 12"/>
          <p:cNvSpPr/>
          <p:nvPr/>
        </p:nvSpPr>
        <p:spPr>
          <a:xfrm>
            <a:off x="2167200" y="3297600"/>
            <a:ext cx="4912200" cy="1451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1" name="TextBox 14"/>
          <p:cNvSpPr/>
          <p:nvPr/>
        </p:nvSpPr>
        <p:spPr>
          <a:xfrm>
            <a:off x="6593400" y="3079800"/>
            <a:ext cx="2953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Create circular aperture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Straight Arrow Connector 16"/>
          <p:cNvSpPr/>
          <p:nvPr/>
        </p:nvSpPr>
        <p:spPr>
          <a:xfrm flipH="1">
            <a:off x="3885480" y="1600200"/>
            <a:ext cx="730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Oval 16"/>
          <p:cNvSpPr/>
          <p:nvPr/>
        </p:nvSpPr>
        <p:spPr>
          <a:xfrm>
            <a:off x="2214000" y="1492200"/>
            <a:ext cx="1599480" cy="227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4" name="TextBox 16"/>
          <p:cNvSpPr/>
          <p:nvPr/>
        </p:nvSpPr>
        <p:spPr>
          <a:xfrm>
            <a:off x="4728600" y="1371600"/>
            <a:ext cx="2953080" cy="454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Enable particle losses (needed for beam loss plot)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5" name="TextBox 23"/>
          <p:cNvSpPr/>
          <p:nvPr/>
        </p:nvSpPr>
        <p:spPr>
          <a:xfrm>
            <a:off x="353880" y="2309400"/>
            <a:ext cx="124560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Loop over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bunch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intensities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to be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scanned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6" name="Left Brace 8"/>
          <p:cNvSpPr/>
          <p:nvPr/>
        </p:nvSpPr>
        <p:spPr>
          <a:xfrm>
            <a:off x="1613160" y="1168560"/>
            <a:ext cx="221400" cy="36313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BAB459-2DB8-413E-973B-3EB8C8D2447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2005200" y="914400"/>
            <a:ext cx="9472680" cy="5296320"/>
          </a:xfrm>
          <a:prstGeom prst="rect">
            <a:avLst/>
          </a:prstGeom>
          <a:ln w="0">
            <a:noFill/>
          </a:ln>
        </p:spPr>
      </p:pic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1600" y="242280"/>
            <a:ext cx="8750160" cy="4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(6):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9" name="Straight Arrow Connector 15"/>
          <p:cNvSpPr/>
          <p:nvPr/>
        </p:nvSpPr>
        <p:spPr>
          <a:xfrm flipH="1">
            <a:off x="8457480" y="1491840"/>
            <a:ext cx="83808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0" name="Oval 18"/>
          <p:cNvSpPr/>
          <p:nvPr/>
        </p:nvSpPr>
        <p:spPr>
          <a:xfrm>
            <a:off x="2743200" y="5257800"/>
            <a:ext cx="8457480" cy="9529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1" name="TextBox 25"/>
          <p:cNvSpPr/>
          <p:nvPr/>
        </p:nvSpPr>
        <p:spPr>
          <a:xfrm>
            <a:off x="8434800" y="4747680"/>
            <a:ext cx="2953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Create one turn map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2" name="Straight Arrow Connector 17"/>
          <p:cNvSpPr/>
          <p:nvPr/>
        </p:nvSpPr>
        <p:spPr>
          <a:xfrm flipH="1">
            <a:off x="7542720" y="4892040"/>
            <a:ext cx="834840" cy="365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3" name="Oval 19"/>
          <p:cNvSpPr/>
          <p:nvPr/>
        </p:nvSpPr>
        <p:spPr>
          <a:xfrm>
            <a:off x="2167200" y="1828800"/>
            <a:ext cx="9033480" cy="29206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TextBox 27"/>
          <p:cNvSpPr/>
          <p:nvPr/>
        </p:nvSpPr>
        <p:spPr>
          <a:xfrm>
            <a:off x="9358200" y="1371600"/>
            <a:ext cx="1828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Create monitor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5" name="TextBox 29"/>
          <p:cNvSpPr/>
          <p:nvPr/>
        </p:nvSpPr>
        <p:spPr>
          <a:xfrm>
            <a:off x="353880" y="2309400"/>
            <a:ext cx="124560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Loop over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bunch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intensities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to be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scanned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6" name="Left Brace 9"/>
          <p:cNvSpPr/>
          <p:nvPr/>
        </p:nvSpPr>
        <p:spPr>
          <a:xfrm>
            <a:off x="1613160" y="939960"/>
            <a:ext cx="221400" cy="52315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3DB8DB-1DBB-4BA9-9F90-2A47CBE82D07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1926000" y="889920"/>
            <a:ext cx="9796680" cy="5366160"/>
          </a:xfrm>
          <a:prstGeom prst="rect">
            <a:avLst/>
          </a:prstGeom>
          <a:ln w="0">
            <a:noFill/>
          </a:ln>
        </p:spPr>
      </p:pic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831600" y="242280"/>
            <a:ext cx="8750160" cy="4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Aptos Display"/>
              </a:rPr>
              <a:t>Structure of the iPython notebook (7):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9" name="Straight Arrow Connector 18"/>
          <p:cNvSpPr/>
          <p:nvPr/>
        </p:nvSpPr>
        <p:spPr>
          <a:xfrm flipH="1">
            <a:off x="7161480" y="1887840"/>
            <a:ext cx="838080" cy="33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Oval 20"/>
          <p:cNvSpPr/>
          <p:nvPr/>
        </p:nvSpPr>
        <p:spPr>
          <a:xfrm>
            <a:off x="2635200" y="5173200"/>
            <a:ext cx="6736680" cy="407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TextBox 28"/>
          <p:cNvSpPr/>
          <p:nvPr/>
        </p:nvSpPr>
        <p:spPr>
          <a:xfrm>
            <a:off x="8434800" y="4747680"/>
            <a:ext cx="2953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Track particles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2" name="Straight Arrow Connector 20"/>
          <p:cNvSpPr/>
          <p:nvPr/>
        </p:nvSpPr>
        <p:spPr>
          <a:xfrm flipH="1">
            <a:off x="7771680" y="4892040"/>
            <a:ext cx="606240" cy="28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3" name="Oval 21"/>
          <p:cNvSpPr/>
          <p:nvPr/>
        </p:nvSpPr>
        <p:spPr>
          <a:xfrm>
            <a:off x="2311200" y="1972800"/>
            <a:ext cx="5460480" cy="18514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4" name="TextBox 30"/>
          <p:cNvSpPr/>
          <p:nvPr/>
        </p:nvSpPr>
        <p:spPr>
          <a:xfrm>
            <a:off x="8085600" y="1749240"/>
            <a:ext cx="182808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Generate particles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5" name="TextBox 31"/>
          <p:cNvSpPr/>
          <p:nvPr/>
        </p:nvSpPr>
        <p:spPr>
          <a:xfrm>
            <a:off x="353880" y="2309400"/>
            <a:ext cx="124560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Loop over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bunch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intensities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to be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scanned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6" name="Left Brace 12"/>
          <p:cNvSpPr/>
          <p:nvPr/>
        </p:nvSpPr>
        <p:spPr>
          <a:xfrm>
            <a:off x="1613160" y="939960"/>
            <a:ext cx="221400" cy="52315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Oval 17"/>
          <p:cNvSpPr/>
          <p:nvPr/>
        </p:nvSpPr>
        <p:spPr>
          <a:xfrm>
            <a:off x="2772720" y="4190400"/>
            <a:ext cx="2941560" cy="262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TextBox 9"/>
          <p:cNvSpPr/>
          <p:nvPr/>
        </p:nvSpPr>
        <p:spPr>
          <a:xfrm>
            <a:off x="7620840" y="4118760"/>
            <a:ext cx="3079800" cy="272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0000"/>
                </a:solidFill>
                <a:latin typeface="Aptos"/>
                <a:ea typeface="DejaVu Sans"/>
              </a:rPr>
              <a:t>Apply an initial kick to the distribution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9" name="Straight Arrow Connector 19"/>
          <p:cNvSpPr/>
          <p:nvPr/>
        </p:nvSpPr>
        <p:spPr>
          <a:xfrm flipH="1">
            <a:off x="5756040" y="4257360"/>
            <a:ext cx="1786320" cy="6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886785-B8BE-4E5C-9640-5C36E779424A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729080" y="120960"/>
            <a:ext cx="7756200" cy="55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rgbClr val="0070c0"/>
                </a:solidFill>
                <a:latin typeface="Aptos Display"/>
              </a:rPr>
              <a:t>Structure of the Python notebook (7)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220320" y="2271600"/>
            <a:ext cx="25959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Plot average horizontal 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positions/intensity of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ptos"/>
                <a:ea typeface="DejaVu Sans"/>
              </a:rPr>
              <a:t>the bunch turn by turn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2" name="Left Brace 10"/>
          <p:cNvSpPr/>
          <p:nvPr/>
        </p:nvSpPr>
        <p:spPr>
          <a:xfrm>
            <a:off x="2751840" y="899280"/>
            <a:ext cx="213840" cy="390060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3148200" y="855360"/>
            <a:ext cx="7053480" cy="3944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58238A-F1CF-487E-ACF2-CBE4BAE543F2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6" descr=""/>
          <p:cNvPicPr/>
          <p:nvPr/>
        </p:nvPicPr>
        <p:blipFill>
          <a:blip r:embed="rId1"/>
          <a:srcRect l="0" t="0" r="0" b="30858"/>
          <a:stretch/>
        </p:blipFill>
        <p:spPr>
          <a:xfrm>
            <a:off x="3977640" y="1236960"/>
            <a:ext cx="7116120" cy="3701160"/>
          </a:xfrm>
          <a:prstGeom prst="rect">
            <a:avLst/>
          </a:prstGeom>
          <a:ln w="0">
            <a:noFill/>
          </a:ln>
        </p:spPr>
      </p:pic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798920" y="206640"/>
            <a:ext cx="788544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0000"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70c0"/>
                </a:solidFill>
                <a:latin typeface="Aptos Display"/>
              </a:rPr>
              <a:t>ipython cheat sheet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1798920" y="960840"/>
            <a:ext cx="8494560" cy="573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5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To restart the kernel at any point: “Kernel” →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 “Restart”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To only interrupt the kernel: “Kernel” →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 “Interrupt”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Shift-enter: execute current cell and move to next cell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Ctrl-enter: execute current cell and stay on current cell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57" name="Rectangle 4"/>
          <p:cNvSpPr/>
          <p:nvPr/>
        </p:nvSpPr>
        <p:spPr>
          <a:xfrm>
            <a:off x="5688000" y="2274840"/>
            <a:ext cx="500760" cy="2437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</p:sp>
      <p:sp>
        <p:nvSpPr>
          <p:cNvPr id="258" name="Rectangle 8"/>
          <p:cNvSpPr/>
          <p:nvPr/>
        </p:nvSpPr>
        <p:spPr>
          <a:xfrm>
            <a:off x="5820480" y="2786040"/>
            <a:ext cx="1068840" cy="186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916A30-4EAB-4CE8-BD8A-A8753D333F47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15633</TotalTime>
  <Application>LibreOffice/7.3.7.2$Linux_X86_64 LibreOffice_project/30$Build-2</Application>
  <AppVersion>15.0000</AppVersion>
  <Words>1146</Words>
  <Paragraphs>215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2025-05-28T16:16:16Z</dcterms:created>
  <dc:creator>Benoit Salvant</dc:creator>
  <dc:description/>
  <dc:language>en-US</dc:language>
  <cp:lastModifiedBy/>
  <dcterms:modified xsi:type="dcterms:W3CDTF">2026-02-07T14:03:57Z</dcterms:modified>
  <cp:revision>144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36</vt:i4>
  </property>
</Properties>
</file>